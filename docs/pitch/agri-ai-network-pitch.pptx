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promise. Live URLs on screen; the demo follows the PRD §44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Problem-solution fit (20%): localized intelligence, crop risk, weather uncertainty, disease, climate resilience.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continuous journey shown in the demo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from the running app (OpenStreetMap basemap in the screenshot; Google Maps satellite in production).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AI/technical execution (25%): Gemini, Gemini multimodal, Vertex AI, Earth Engine, structured 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FR-09 and the human-in-the-loop requirement for consequential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Depth &amp; reach (20%): state-independent model, multi-state config, multi-language, reusable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Deployability (20%): cloud-native services, API-first, adapters, standard schemas, modular AI, deployed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(15%): small and marginal farmers; resilience, water, disease, soil, climate.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Portability story: adapters + canonical schema + config-driven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what is live vs demo; the apps show the same split in their header badges.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86EFAC"/>
                </a:solidFill>
                <a:latin typeface="Calibri"/>
              </a:rPr>
              <a:t>BUILD WITH AI · TRACK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5800" b="1">
                <a:solidFill>
                  <a:srgbClr val="FFFFFF"/>
                </a:solidFill>
                <a:latin typeface="Calibri"/>
              </a:rPr>
              <a:t>Agri AI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D1FAE5"/>
                </a:solidFill>
                <a:latin typeface="Calibri"/>
              </a:rPr>
              <a:t>One AI advisor for every smallholder's own field,</a:t>
            </a:r>
          </a:p>
          <a:p>
            <a:pPr algn="l">
              <a:lnSpc>
                <a:spcPct val="110000"/>
              </a:lnSpc>
            </a:pPr>
            <a:r>
              <a:rPr sz="2600" b="0">
                <a:solidFill>
                  <a:srgbClr val="D1FAE5"/>
                </a:solidFill>
                <a:latin typeface="Calibri"/>
              </a:rPr>
              <a:t>one interoperable agriculture data network for every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5E7EB"/>
                </a:solidFill>
                <a:latin typeface="Calibri"/>
              </a:rPr>
              <a:t>Farmer app  ·  agri-ai-network-farmer-web-847963771142.asia-south1.run.app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5E7EB"/>
                </a:solidFill>
                <a:latin typeface="Calibri"/>
              </a:rPr>
              <a:t>Officer dashboard  ·  agri-ai-network-officer-dashboard-847963771142.asia-south1.run.app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5E7EB"/>
                </a:solidFill>
                <a:latin typeface="Calibri"/>
              </a:rPr>
              <a:t>Code  ·  github.com/ipavanreddy/agri-ai-network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Farm decisions ignore data that already exists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457200"/>
            <a:ext cx="1463040" cy="45720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Fit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85216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86 % of India's ~146 million farm holdings are small or marginal (Agriculture Census 2015-16).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Weather forecasts, Soil Health Cards, satellite imagery and state records exist, but in separate systems, formats and languages.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Advice arrives generic, late, in English, or not at all; a leaf spot is diagnosed by guesswork.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800" b="0">
                <a:solidFill>
                  <a:srgbClr val="1F2937"/>
                </a:solidFill>
                <a:latin typeface="Calibri"/>
              </a:rPr>
              <a:t>•  Every state builds its own portal, so nothing is shared and officers see districts, not fields.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645920"/>
            <a:ext cx="4846320" cy="132588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766560" y="1645920"/>
            <a:ext cx="73152" cy="132588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60" y="1783080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The farmer's 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212848"/>
            <a:ext cx="44805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Is my crop healthy? Should I irrigate? What is this spot on the leaf? What should I sow next?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154680"/>
            <a:ext cx="4846320" cy="132588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66560" y="3154680"/>
            <a:ext cx="73152" cy="13258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3291840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The officer's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21608"/>
            <a:ext cx="44805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Which districts are at risk this week? Where are disease hotspots? Can I trust the AI advice going out?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663440"/>
            <a:ext cx="4846320" cy="132588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4663440"/>
            <a:ext cx="73152" cy="1325880"/>
          </a:xfrm>
          <a:prstGeom prst="rect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4800600"/>
            <a:ext cx="44805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The state's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5230368"/>
            <a:ext cx="448056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Can we join a national network without rebuilding our systems?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Farm → Data → AI → Advisory → Diagnosis →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457200"/>
            <a:ext cx="1463040" cy="45720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Fit 20%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4592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1 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1284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Search the village, tap the field corners, pick the crop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64592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2 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1284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Live weather, Soil Health Card, SoilGrids, Sentinel-2 NDVI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64592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78308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3  Farm 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21284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Explainable 0-100 score; missing data is never invented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9184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42900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4  Advisory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5876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Gemini: observed → interpretation → action + regenerative practice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29184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29184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42900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5  Crop Doctor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5876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Leaf photo → Gemini multimodal → condition, confidence, nearest KVK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29184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29184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42900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6  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85876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Ask in Telugu or Hindi, hear the answer grounded in the field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B6570"/>
                </a:solidFill>
                <a:latin typeface="Calibri"/>
              </a:rPr>
              <a:t>Two roles only: the Farmer acts on advice; the Agriculture Officer sees the region and approves every AI output before it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PRODUCT · FARMER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The farmer sees one field, one score, one next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Every card shows its source and freshness, with Live or Sample · synthetic badges.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Farm Health = Vegetation 30 % + Soil 25 % + Weather 20 % + Water 15 % + Crop condition 10 %.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Advisory in English, हिन्दी, తెలుగు; the same advice is translated, not re-analysed.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Crop Doctor links straight to the nearest agriculture office with road distance and drive time.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Works offline for demos: 'Use sample scenario data' replays a labelled dry-spell story.</a:t>
            </a:r>
          </a:p>
        </p:txBody>
      </p:sp>
      <p:pic>
        <p:nvPicPr>
          <p:cNvPr id="8" name="Picture 7" descr="fa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760" y="1325880"/>
            <a:ext cx="4470400" cy="5029200"/>
          </a:xfrm>
          <a:prstGeom prst="rect">
            <a:avLst/>
          </a:prstGeom>
          <a:ln>
            <a:solidFill>
              <a:srgbClr val="D1D5DB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AI / TECHNICAL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Gemini reasons over facts; it never invents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457200"/>
            <a:ext cx="1463040" cy="45720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 25%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657600" cy="219456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Structured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Canonical field context in, Pydantic-validated JSON out (generate_structured).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Every record stores model_name, model_version, prompt_version (ai/prompts/*_v1.md).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57600" cy="219456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73152" cy="21945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40"/>
            <a:ext cx="32918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Gemini 2.5 Flash on Vertex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21408"/>
            <a:ext cx="329184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Advisory, crop-option explanation, voice Q&amp;A.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Multimodal Crop Doctor: condition, symptoms, likelihoods, confidence, expert-review flag.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520440" cy="219456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73152" cy="21945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91640"/>
            <a:ext cx="315468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Google AI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21408"/>
            <a:ext cx="315468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Speech-to-Text + Text-to-Speech (en/hi/te-IN).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Cloud Translation for localised advisories.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Earth Engine Sentinel-2 NDVI/NDMI per field polygon.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5486400" cy="21031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73152" cy="21031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799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Grounding and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44567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Observed data → AI interpretation → recommendation kept as separate fields.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Deterministic Farm Health rules; Gemini explains, rules score.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Crop Doctor is always preliminary, with a disclaimer and a human officer review.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977639"/>
            <a:ext cx="5486400" cy="21031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3977639"/>
            <a:ext cx="73152" cy="2103120"/>
          </a:xfrm>
          <a:prstGeom prst="rect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114799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Honest fallbacks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544567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Each integration is probed with a real call; the UI shows what is live and what is on a labelled fallback.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Without keys the full journey still runs on deterministic rules and labelled sample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PRODUCT · OFFICER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Officers see state → district → block, and approve the AI</a:t>
            </a:r>
          </a:p>
        </p:txBody>
      </p:sp>
      <p:pic>
        <p:nvPicPr>
          <p:cNvPr id="7" name="Picture 6" descr="offi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4384730"/>
          </a:xfrm>
          <a:prstGeom prst="rect">
            <a:avLst/>
          </a:prstGeom>
          <a:ln>
            <a:solidFill>
              <a:srgbClr val="D1D5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589520" y="1554480"/>
            <a:ext cx="41148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Regional risk map, crop distribution, weather risk, water stress and disease / stress hotspots.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Indicators served from BigQuery; platform activity live from the field records.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Review queue: every advisory, crop plan and diagnosis starts as pending; the farmer sees approve or reject.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Interoperability tab: raw state record → adapter → identical canonical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DEPTH &amp; REACH ACROSS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A new state is a config file and a data export, not a rebuild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457200"/>
            <a:ext cx="1463040" cy="45720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Reach 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514600" cy="1005840"/>
          </a:xfrm>
          <a:prstGeom prst="round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25146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41F17"/>
                </a:solidFill>
                <a:latin typeface="Calibri"/>
              </a:rPr>
              <a:t>State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783080"/>
            <a:ext cx="34747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5803D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1600200"/>
            <a:ext cx="2514600" cy="1005840"/>
          </a:xfrm>
          <a:prstGeom prst="round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600200"/>
            <a:ext cx="25146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41F17"/>
                </a:solidFill>
                <a:latin typeface="Calibri"/>
              </a:rPr>
              <a:t>Declarative adapter
(data/adapters/*.json)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783080"/>
            <a:ext cx="34747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5803D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600200"/>
            <a:ext cx="2514600" cy="1005840"/>
          </a:xfrm>
          <a:prstGeom prst="round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600200"/>
            <a:ext cx="25146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141F17"/>
                </a:solidFill>
                <a:latin typeface="Calibri"/>
              </a:rPr>
              <a:t>Canonical schema
(Pydantic → JSON Schema)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7384" y="1783080"/>
            <a:ext cx="34747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5803D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600200"/>
            <a:ext cx="2514600" cy="100584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4856" y="1600200"/>
            <a:ext cx="251460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Shared APIs +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926080"/>
            <a:ext cx="3611880" cy="137160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26080"/>
            <a:ext cx="73152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0632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Andhra Pradesh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93008"/>
            <a:ext cx="3246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Groundnut · e-Crop + Soil Health Card format · Telugu · codes GN, RG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79" y="2926080"/>
            <a:ext cx="3611880" cy="137160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79" y="2926080"/>
            <a:ext cx="73152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79" y="30632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Maharashtra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3493008"/>
            <a:ext cx="3246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Cotton · MahaDBT format · Marathi → Hindi fallback · codes kapus, tur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18" y="2926080"/>
            <a:ext cx="3611880" cy="137160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18" y="2926080"/>
            <a:ext cx="73152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8" y="30632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Punjab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8" y="3493008"/>
            <a:ext cx="3246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Wheat · land records + PAU soil lab · kanal → acres · codes kanak, sarson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1115568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Adapters declare field paths, crop code tables, unit conversions (ha/kanal → acres, g/kg → %, kg/acre → kg/ha), date formats and language fallbacks. One engine applies them all.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Calibri"/>
              </a:rPr>
              <a:t>•  Farm Health, Gemini advisory, Crop Doctor, voice and the officer view run unchanged for every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DEPLOYABILITY &amp;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Cloud-native: one command deploys the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457200"/>
            <a:ext cx="1463040" cy="45720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Deploy 20%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486400" cy="228600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Running on Google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51206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 Cloud Run services (API + 2 Next.js apps), asia-south1, built by Cloud Build.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Secrets in Secret Manager; Vertex AI, BigQuery and Cloud Storage via the service account.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infrastructure/cloud-run/deploy.sh: repeatable; Gemini key attached automatically when it exists.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5486400" cy="228600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73152" cy="22860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API-first, modular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21408"/>
            <a:ext cx="512064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Documented REST API (/docs), canonical JSON Schemas, versioned prompts.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Domain modules (farms, intelligence, advisory, crops, diagnosis, localization, interop, analytics) can split into separate services when load demands.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14800"/>
            <a:ext cx="2697480" cy="4572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2514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Calibri"/>
              </a:rPr>
              <a:t>3 states · 3 languages · real + labelled sample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4992" y="4114800"/>
            <a:ext cx="2697480" cy="457200"/>
          </a:xfrm>
          <a:prstGeom prst="rect">
            <a:avLst/>
          </a:prstGeom>
          <a:solidFill>
            <a:srgbClr val="14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4114800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District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4663440"/>
            <a:ext cx="2514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Calibri"/>
              </a:rPr>
              <a:t>1 state, many districts, government feeds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4114800"/>
            <a:ext cx="2697480" cy="457200"/>
          </a:xfrm>
          <a:prstGeom prst="rect">
            <a:avLst/>
          </a:prstGeom>
          <a:solidFill>
            <a:srgbClr val="14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4114800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State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4663440"/>
            <a:ext cx="2514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Calibri"/>
              </a:rPr>
              <a:t>State models, officer workflows, more languages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97696" y="4114800"/>
            <a:ext cx="2697480" cy="457200"/>
          </a:xfrm>
          <a:prstGeom prst="rect">
            <a:avLst/>
          </a:prstGeom>
          <a:solidFill>
            <a:srgbClr val="14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4114800"/>
            <a:ext cx="2697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Calibri"/>
              </a:rPr>
              <a:t>National network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4663440"/>
            <a:ext cx="2514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937"/>
                </a:solidFill>
                <a:latin typeface="Calibri"/>
              </a:rPr>
              <a:t>Shared contracts, model registry, inter-state exchange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IMPACT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Impact: better decisions on millions of small 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457200"/>
            <a:ext cx="1463040" cy="457200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Impact 15%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Crop resilience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Early NDVI dips and weather risk flagged before yield is lost.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55448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Water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2140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Irrigate only when 14-day rain and forecast say so.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6916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Disease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12140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Photo to preliminary diagnosis in seconds, plus the nearest KVK.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5468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5468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918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Soil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72160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Soil Health Card data turned into one regenerative practice per field.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15468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5468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2918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Climate adaptation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72160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Crop options scored for local climate risk and rotation value.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154680"/>
            <a:ext cx="3611880" cy="141732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154680"/>
            <a:ext cx="73152" cy="14173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291840"/>
            <a:ext cx="3246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Officer reach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3721608"/>
            <a:ext cx="3246120" cy="777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One dashboard across districts, with human approval of AI advice.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92040"/>
            <a:ext cx="11155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B6570"/>
                </a:solidFill>
                <a:latin typeface="Calibri"/>
              </a:rPr>
              <a:t>What we will measure in a pilot: advisories acted on, irrigation events avoided, time from symptom to officer contact, share of AI outputs approved, farmers reached per officer.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CROSS-BORDER · BRICS PORTABILITY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Built for India, portable across borders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6692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Nothing in the core is India-specific: the canonical schema, Farm Health rules and AI prompts take any country's records through an adapter.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Language is configuration: add Portuguese, Russian, Chinese, Arabic or Swahili strings and speech locales.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Global public data already in the loop: Sentinel-2 (Earth Engine), Open-Meteo, ISRIC SoilGrids.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700" b="0">
                <a:solidFill>
                  <a:srgbClr val="1F2937"/>
                </a:solidFill>
                <a:latin typeface="Calibri"/>
              </a:rPr>
              <a:t>•  Each partner keeps its data sovereign and runs its own Cloud Run deployment; only schemas and models are shared.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5029200" cy="137160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0" y="1645920"/>
            <a:ext cx="73152" cy="137160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783080"/>
            <a:ext cx="4663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Same adapter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212848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Brazil's state rural registries, South Africa's provincial extension data or Ethiopia's woreda soil maps map to the same canonical records.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200400"/>
            <a:ext cx="5029200" cy="137160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3200400"/>
            <a:ext cx="73152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337560"/>
            <a:ext cx="4663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Shared intelligence, local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3767328"/>
            <a:ext cx="46634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Common data contracts enable cross-border pest and weather early warnings without moving farmer 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754880"/>
            <a:ext cx="5029200" cy="128016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4754880"/>
            <a:ext cx="73152" cy="1280160"/>
          </a:xfrm>
          <a:prstGeom prst="rect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4892040"/>
            <a:ext cx="4663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Global South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321808"/>
            <a:ext cx="4663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Smallholders produce a large share of food in BRICS+ countries; one open architecture serves them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5803D"/>
                </a:solidFill>
                <a:latin typeface="Calibri"/>
              </a:rPr>
              <a:t>STATUS AND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95097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41F17"/>
                </a:solidFill>
                <a:latin typeface="Calibri"/>
              </a:rPr>
              <a:t>What runs today, and what switches on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356616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73152" cy="356616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Live on real Google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21408"/>
            <a:ext cx="512064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Gemini 2.5 Flash on Vertex AI (advisory, crop options, Crop Doctor, voice Q&amp;A)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Cloud Speech-to-Text, Text-to-Speech, Translation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Maps Geocoding, Places, Routes + Maps JavaScript basemap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BigQuery regional indicators · Cloud Storage crop photos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Open-Meteo weather, ISRIC SoilGrids texture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Cloud Run, Cloud Build, Artifact Registry, Secret 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486400" cy="3566160"/>
          </a:xfrm>
          <a:prstGeom prst="rect">
            <a:avLst/>
          </a:prstGeom>
          <a:solidFill>
            <a:srgbClr val="F1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73152" cy="35661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9164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41F17"/>
                </a:solidFill>
                <a:latin typeface="Calibri"/>
              </a:rPr>
              <a:t>Code complete, switching on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21408"/>
            <a:ext cx="512064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Earth Engine Sentinel-2 NDVI: waiting for project registration (sample series until then, labelled).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Firestore + Firebase Auth: waiting for Firebase on the project (SQLite fallback).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Real state feeds replace the labelled sample exports: a data change, not a code change.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  <a:latin typeface="Calibri"/>
              </a:rPr>
              <a:t>Next: Marathi and Punjabi, crop-specific disease models on Vertex AI, SMS / IVR channel for feature phones.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One field → one district → one state → a national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D1FAE5"/>
                </a:solidFill>
                <a:latin typeface="Calibri"/>
              </a:rPr>
              <a:t>Agri AI Network turns India's scattered agriculture data into advice a farmer can act on today,</a:t>
            </a:r>
          </a:p>
          <a:p>
            <a:pPr algn="l">
              <a:lnSpc>
                <a:spcPct val="110000"/>
              </a:lnSpc>
            </a:pPr>
            <a:r>
              <a:rPr sz="2000" b="0">
                <a:solidFill>
                  <a:srgbClr val="D1FAE5"/>
                </a:solidFill>
                <a:latin typeface="Calibri"/>
              </a:rPr>
              <a:t>and gives every state a way to join without rebuilding.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5E7EB"/>
                </a:solidFill>
                <a:latin typeface="Calibri"/>
              </a:rPr>
              <a:t>Try it  ·  agri-ai-network-farmer-web-847963771142.asia-south1.run.app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E5E7EB"/>
                </a:solidFill>
                <a:latin typeface="Calibri"/>
              </a:rPr>
              <a:t>Officer view  ·  agri-ai-network-officer-dashboard-847963771142.asia-south1.run.app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E5E7EB"/>
                </a:solidFill>
                <a:latin typeface="Calibri"/>
              </a:rPr>
              <a:t>Source  ·  github.com/ipavanreddy/agri-ai-network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86EFAC"/>
                </a:solidFill>
                <a:latin typeface="Calibri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Agri AI Network · Build with AI · Track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B65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