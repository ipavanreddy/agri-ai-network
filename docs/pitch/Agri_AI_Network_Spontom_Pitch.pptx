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 AI Network gives a smallholder farmer one advisor for their own field. It joins live weather, Soil Health Card data and satellite vegetation into an explainable Farm Health score, then uses Gemini to turn that into a grounded advisory, crop options and a photo-based Crop Doctor. The same canonical data model lets any state plug in its records and gives agriculture officers a district risk view. What you see on the right is a real screenshot of the running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86 percent of India's operational holders are small or marginal, per the Agriculture Census cited here. The information they need exists: forecasts, Soil Health Cards, satellite imagery and state records, but it lives in separate systems. Our demo farmer's field shows it: satellite greenness is 0.32 against roughly 0.62 expected, yet nothing joins that to her soil card and forecast. The gap is not more data; it is a field-level synthesis the farmer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has three parts. First, weather, soil and satellite signals become a Farm Health score with a visible breakdown. Second, Gemini reasons only over that structured context and must return schema-validated JSON that separates observations, interpretation and actions. The panel on the right is an excerpt of a real advisory the prototype generated today; note that it cites its sources and flags its own uncertainty. Third, every AI output waits for an Agriculture Officer's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loop. A field comes from a map drawing or a state record; weather, soil and satellite are fetched with source and timestamp; a rule-based Farm Health score is computed. Gemini then produces the advisory and, from a leaf photo, a preliminary Crop Doctor assessment. The result is localised to Hindi or Telugu and can be spoken. Three tiers keep this safe: deterministic rules first, bounded AI second, and a human officer for every consequential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user is a smallholder like Lakshmi, a sample farmer with 2.4 rainfed acres of groundnut in Anantapur. She needs one clear action in her language, by voice if she prefers, and she needs to see where each fact came from. Around her are the Agriculture Officer, who needs a district risk view and a review queue; the KVK, which confirms Crop Doctor cases; and the state department, which keeps its data and joins through an adapter. The screenshot shows Crop Doctor pointing to the nearest agriculture office with drive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story with the numbers the prototype produced today. Lakshmi's Farm Health is 73, pulled down by low vegetation and a soil card with low organic carbon and nitrogen. Gemini rates the risk high for the next 48 hours and asks her to scout for leaf spot; Crop Doctor, from a sample leaf photo, suggests Early Leaf Spot at 80 percent confidence and names the nearest agriculture office, about 36 minutes away. On the officer side, Anantapur shows up as the state's hotspot, and her advisory sits in the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competing with India's agricultural systems. The Kisan Call Centre answers farmers in 22 languages, GKMS issues district and block agromet advisories, the Soil Health Card measures nutrients, and the Digital Agriculture Mission is building AgriStack and the Krishi Decision Support System. What none of them does alone is join a specific field's soil, weather, satellite and photo evidence into one explained action. That is our layer, and our own limit is stated plainly: it is a prototype on sample state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layered. State adapters map three different state record formats into one canonical schema, so every shared service runs unchanged. The data layer uses live Open-Meteo weather, SoilGrids texture, Sentinel-2 NDVI through Earth Engine and BigQuery for regional indicators. Gemini 2.5 Flash on Vertex AI is bounded: it receives structured context and must return validated JSON, and every record stores model and prompt versions. The gate card is our honesty rule: an integration is shown as Live only after a real probe call succeeds, and all sample data is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here is concrete. Gemini only sees structured field data and must separate what was observed from what it infers and what it recommends; if validation fails, the system falls back to deterministic rules. Crop Doctor always speaks of a potential condition, never a certified diagnosis, and routes low-confidence or severe cases to an expert. We state the gaps too: authentication is not built yet, and the Hindi and Telugu strings need native-speaker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earn scale, not assume it. The outcome chain starts with officer trust, measured by how often they approve AI drafts unedited, then farmer action, then timeliness, and only then field outcomes like water use and crop loss. A first district pilot, for example Anantapur, would compare KVK-linked blocks with matched blocks and check Crop Doctor against KVK-confirmed cases. The natural owner is the state agriculture department; the Digital Agriculture Mission, with its Krishi Decision Support System component, is a candidate funding route that we would confirm with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shown is working software. On the left, the farmer app with the Farm Health breakdown and live weather and satellite data; next to it, the officer dashboard's Andhra Pradesh district risk map, served from BigQuery with labelled synthetic indicators. The links go to the Cloud Run services and the public repository. On the right is how we map to the five evaluation criteria, weighted as in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public sources behind the problem and differentiation slides. The 86 percent figure is from the Agriculture Census 2015-16 as reported by the Ministry of Agriculture through PIB. The Digital Agriculture Mission, GKMS and Kisan Call Centre descriptions are taken from official PIB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reference slide lists the data sources the prototype actually uses: the Soil Health Card format and thresholds, Sentinel-2 through Earth Engine, Open-Meteo weather and ISRIC SoilGrids. The last entry is our own PRD and repository, which is where every prototype number on these slides can be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hyperlink" Target="https://agri-ai-network-farmer-web-847963771142.asia-south1.run.app" TargetMode="External"/><Relationship Id="rId5" Type="http://schemas.openxmlformats.org/officeDocument/2006/relationships/hyperlink" Target="https://agri-ai-network-officer-dashboard-847963771142.asia-south1.run.app" TargetMode="External"/><Relationship Id="rId6" Type="http://schemas.openxmlformats.org/officeDocument/2006/relationships/hyperlink" Target="https://agri-ai-network-api-847963771142.asia-south1.run.app" TargetMode="External"/><Relationship Id="rId7" Type="http://schemas.openxmlformats.org/officeDocument/2006/relationships/hyperlink" Target="https://github.com/ipavanreddy/agri-ai-network"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pib.gov.in/PressReleasePage.aspx?PRID=1906888" TargetMode="External"/><Relationship Id="rId3" Type="http://schemas.openxmlformats.org/officeDocument/2006/relationships/hyperlink" Target="https://www.pib.gov.in/PressReleasePage.aspx?PRID=2050966" TargetMode="External"/><Relationship Id="rId4" Type="http://schemas.openxmlformats.org/officeDocument/2006/relationships/hyperlink" Target="https://www.pib.gov.in/PressReleasePage.aspx?PRID=1906389" TargetMode="External"/><Relationship Id="rId5" Type="http://schemas.openxmlformats.org/officeDocument/2006/relationships/hyperlink" Target="https://www.pib.gov.in/PressReleasePage.aspx?PRID=1741969" TargetMode="External"/><Relationship Id="rId1" Type="http://schemas.openxmlformats.org/officeDocument/2006/relationships/image" Target="../media/image-12-1.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soilhealth.dac.gov.in" TargetMode="External"/><Relationship Id="rId3" Type="http://schemas.openxmlformats.org/officeDocument/2006/relationships/hyperlink" Target="https://developers.google.com/earth-engine/datasets/catalog/COPERNICUS_S2_SR_HARMONIZED" TargetMode="External"/><Relationship Id="rId4" Type="http://schemas.openxmlformats.org/officeDocument/2006/relationships/hyperlink" Target="https://open-meteo.com" TargetMode="External"/><Relationship Id="rId5" Type="http://schemas.openxmlformats.org/officeDocument/2006/relationships/hyperlink" Target="https://github.com/ipavanreddy/agri-ai-network" TargetMode="External"/><Relationship Id="rId1" Type="http://schemas.openxmlformats.org/officeDocument/2006/relationships/image" Target="../media/image-13-1.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149"/>
        </a:solidFill>
      </p:bgPr>
    </p:bg>
    <p:spTree>
      <p:nvGrpSpPr>
        <p:cNvPr id="1" name=""/>
        <p:cNvGrpSpPr/>
        <p:nvPr/>
      </p:nvGrpSpPr>
      <p:grpSpPr>
        <a:xfrm>
          <a:off x="0" y="0"/>
          <a:ext cx="0" cy="0"/>
          <a:chOff x="0" y="0"/>
          <a:chExt cx="0" cy="0"/>
        </a:xfrm>
      </p:grpSpPr>
      <p:pic>
        <p:nvPicPr>
          <p:cNvPr id="2" name="Image 0" descr="/Users/pavan/Documents/Code/Build_with_AI/agri-ai-network/docs/pitch/assets/cover-farm-health.png">    </p:cNvPr>
          <p:cNvPicPr>
            <a:picLocks noChangeAspect="1"/>
          </p:cNvPicPr>
          <p:nvPr/>
        </p:nvPicPr>
        <p:blipFill>
          <a:blip r:embed="rId1"/>
          <a:srcRect l="0" r="0" t="0" b="0"/>
          <a:stretch/>
        </p:blipFill>
        <p:spPr>
          <a:xfrm>
            <a:off x="5669280" y="0"/>
            <a:ext cx="6522415" cy="6858000"/>
          </a:xfrm>
          <a:prstGeom prst="rect">
            <a:avLst/>
          </a:prstGeom>
        </p:spPr>
      </p:pic>
      <p:sp>
        <p:nvSpPr>
          <p:cNvPr id="3" name="Shape 0"/>
          <p:cNvSpPr/>
          <p:nvPr/>
        </p:nvSpPr>
        <p:spPr>
          <a:xfrm>
            <a:off x="649224" y="429768"/>
            <a:ext cx="768096" cy="713232"/>
          </a:xfrm>
          <a:prstGeom prst="roundRect">
            <a:avLst>
              <a:gd name="adj" fmla="val 10256"/>
            </a:avLst>
          </a:prstGeom>
          <a:solidFill>
            <a:srgbClr val="2E7D3A"/>
          </a:solidFill>
          <a:ln/>
        </p:spPr>
      </p:sp>
      <p:pic>
        <p:nvPicPr>
          <p:cNvPr id="4" name="Image 1" descr="/Users/pavan/Documents/Code/Build_with_AI/agri-ai-network/docs/pitch/assets/spontom-mark.png">    </p:cNvPr>
          <p:cNvPicPr>
            <a:picLocks noChangeAspect="1"/>
          </p:cNvPicPr>
          <p:nvPr/>
        </p:nvPicPr>
        <p:blipFill>
          <a:blip r:embed="rId2"/>
          <a:stretch>
            <a:fillRect/>
          </a:stretch>
        </p:blipFill>
        <p:spPr>
          <a:xfrm>
            <a:off x="758952" y="530352"/>
            <a:ext cx="548640" cy="512064"/>
          </a:xfrm>
          <a:prstGeom prst="rect">
            <a:avLst/>
          </a:prstGeom>
        </p:spPr>
      </p:pic>
      <p:sp>
        <p:nvSpPr>
          <p:cNvPr id="5" name="Text 1"/>
          <p:cNvSpPr txBox="1"/>
          <p:nvPr/>
        </p:nvSpPr>
        <p:spPr>
          <a:xfrm>
            <a:off x="1600200" y="576072"/>
            <a:ext cx="3931920" cy="182880"/>
          </a:xfrm>
          <a:prstGeom prst="rect">
            <a:avLst/>
          </a:prstGeom>
          <a:noFill/>
          <a:ln/>
        </p:spPr>
        <p:txBody>
          <a:bodyPr wrap="square" lIns="0" tIns="0" rIns="0" bIns="0" rtlCol="0" anchor="t"/>
          <a:lstStyle/>
          <a:p>
            <a:pPr indent="0" marL="0">
              <a:buNone/>
            </a:pPr>
            <a:r>
              <a:rPr lang="en-US" sz="900" b="1" spc="150" kern="0" dirty="0">
                <a:solidFill>
                  <a:srgbClr val="FFFFFF"/>
                </a:solidFill>
                <a:latin typeface="Arial" pitchFamily="34" charset="0"/>
                <a:ea typeface="Arial" pitchFamily="34" charset="-122"/>
                <a:cs typeface="Arial" pitchFamily="34" charset="-120"/>
              </a:rPr>
              <a:t>SPONTOM ENTERPRISE PRIVATE LIMITED</a:t>
            </a:r>
            <a:endParaRPr lang="en-US" sz="900" dirty="0"/>
          </a:p>
        </p:txBody>
      </p:sp>
      <p:sp>
        <p:nvSpPr>
          <p:cNvPr id="6" name="Text 2"/>
          <p:cNvSpPr txBox="1"/>
          <p:nvPr/>
        </p:nvSpPr>
        <p:spPr>
          <a:xfrm>
            <a:off x="1600200" y="822960"/>
            <a:ext cx="3931920" cy="146304"/>
          </a:xfrm>
          <a:prstGeom prst="rect">
            <a:avLst/>
          </a:prstGeom>
          <a:noFill/>
          <a:ln/>
        </p:spPr>
        <p:txBody>
          <a:bodyPr wrap="square" lIns="0" tIns="0" rIns="0" bIns="0" rtlCol="0" anchor="t"/>
          <a:lstStyle/>
          <a:p>
            <a:pPr indent="0" marL="0">
              <a:buNone/>
            </a:pPr>
            <a:r>
              <a:rPr lang="en-US" sz="700" dirty="0">
                <a:solidFill>
                  <a:srgbClr val="B9C4CF"/>
                </a:solidFill>
                <a:latin typeface="Arial" pitchFamily="34" charset="0"/>
                <a:ea typeface="Arial" pitchFamily="34" charset="-122"/>
                <a:cs typeface="Arial" pitchFamily="34" charset="-120"/>
              </a:rPr>
              <a:t>Build with AI (Google)  •  Track 4</a:t>
            </a:r>
            <a:endParaRPr lang="en-US" sz="700" dirty="0"/>
          </a:p>
        </p:txBody>
      </p:sp>
      <p:sp>
        <p:nvSpPr>
          <p:cNvPr id="7" name="Text 3"/>
          <p:cNvSpPr txBox="1"/>
          <p:nvPr/>
        </p:nvSpPr>
        <p:spPr>
          <a:xfrm>
            <a:off x="649224" y="1417320"/>
            <a:ext cx="4846320" cy="160020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Agri AI</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Network</a:t>
            </a:r>
            <a:endParaRPr lang="en-US" sz="4000" dirty="0"/>
          </a:p>
        </p:txBody>
      </p:sp>
      <p:sp>
        <p:nvSpPr>
          <p:cNvPr id="8" name="Text 4"/>
          <p:cNvSpPr txBox="1"/>
          <p:nvPr/>
        </p:nvSpPr>
        <p:spPr>
          <a:xfrm>
            <a:off x="649224" y="3063240"/>
            <a:ext cx="4754880" cy="868680"/>
          </a:xfrm>
          <a:prstGeom prst="rect">
            <a:avLst/>
          </a:prstGeom>
          <a:noFill/>
          <a:ln/>
        </p:spPr>
        <p:txBody>
          <a:bodyPr wrap="square" lIns="0" tIns="0" rIns="0" bIns="0" rtlCol="0" anchor="t">
            <a:normAutofit/>
          </a:bodyPr>
          <a:lstStyle/>
          <a:p>
            <a:pPr indent="0" marL="0">
              <a:buNone/>
            </a:pPr>
            <a:r>
              <a:rPr lang="en-US" sz="2000" b="1" dirty="0">
                <a:solidFill>
                  <a:srgbClr val="F3CB7A"/>
                </a:solidFill>
                <a:latin typeface="Arial" pitchFamily="34" charset="0"/>
                <a:ea typeface="Arial" pitchFamily="34" charset="-122"/>
                <a:cs typeface="Arial" pitchFamily="34" charset="-120"/>
              </a:rPr>
              <a:t>From scattered farm data</a:t>
            </a:r>
            <a:endParaRPr lang="en-US" sz="2000" dirty="0"/>
          </a:p>
          <a:p>
            <a:pPr indent="0" marL="0">
              <a:buNone/>
            </a:pPr>
            <a:r>
              <a:rPr lang="en-US" sz="2000" b="1" dirty="0">
                <a:solidFill>
                  <a:srgbClr val="F3CB7A"/>
                </a:solidFill>
                <a:latin typeface="Arial" pitchFamily="34" charset="0"/>
                <a:ea typeface="Arial" pitchFamily="34" charset="-122"/>
                <a:cs typeface="Arial" pitchFamily="34" charset="-120"/>
              </a:rPr>
              <a:t>to one field-level decision.</a:t>
            </a:r>
            <a:endParaRPr lang="en-US" sz="2000" dirty="0"/>
          </a:p>
        </p:txBody>
      </p:sp>
      <p:sp>
        <p:nvSpPr>
          <p:cNvPr id="9" name="Text 5"/>
          <p:cNvSpPr txBox="1"/>
          <p:nvPr/>
        </p:nvSpPr>
        <p:spPr>
          <a:xfrm>
            <a:off x="649224" y="4069080"/>
            <a:ext cx="4754880" cy="566928"/>
          </a:xfrm>
          <a:prstGeom prst="rect">
            <a:avLst/>
          </a:prstGeom>
          <a:noFill/>
          <a:ln/>
        </p:spPr>
        <p:txBody>
          <a:bodyPr wrap="square" lIns="0" tIns="0" rIns="0" bIns="0" rtlCol="0" anchor="t">
            <a:normAutofit/>
          </a:bodyPr>
          <a:lstStyle/>
          <a:p>
            <a:pPr indent="0" marL="0">
              <a:buNone/>
            </a:pPr>
            <a:r>
              <a:rPr lang="en-US" sz="1250" dirty="0">
                <a:solidFill>
                  <a:srgbClr val="E4E9EE"/>
                </a:solidFill>
                <a:latin typeface="Arial" pitchFamily="34" charset="0"/>
                <a:ea typeface="Arial" pitchFamily="34" charset="-122"/>
                <a:cs typeface="Arial" pitchFamily="34" charset="-120"/>
              </a:rPr>
              <a:t>An interoperable AI advisory layer for India's smallholder farmers, with district intelligence for agriculture officers.</a:t>
            </a:r>
            <a:endParaRPr lang="en-US" sz="1250" dirty="0"/>
          </a:p>
        </p:txBody>
      </p:sp>
      <p:sp>
        <p:nvSpPr>
          <p:cNvPr id="10" name="Shape 6"/>
          <p:cNvSpPr/>
          <p:nvPr/>
        </p:nvSpPr>
        <p:spPr>
          <a:xfrm>
            <a:off x="649224" y="4937760"/>
            <a:ext cx="1243584" cy="310896"/>
          </a:xfrm>
          <a:prstGeom prst="roundRect">
            <a:avLst>
              <a:gd name="adj" fmla="val 23529"/>
            </a:avLst>
          </a:prstGeom>
          <a:solidFill>
            <a:srgbClr val="2A4A63"/>
          </a:solidFill>
          <a:ln/>
        </p:spPr>
      </p:sp>
      <p:sp>
        <p:nvSpPr>
          <p:cNvPr id="11" name="Text 7"/>
          <p:cNvSpPr txBox="1"/>
          <p:nvPr/>
        </p:nvSpPr>
        <p:spPr>
          <a:xfrm>
            <a:off x="6492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GEMINI-GROUNDED</a:t>
            </a:r>
            <a:endParaRPr lang="en-US" sz="750" dirty="0"/>
          </a:p>
        </p:txBody>
      </p:sp>
      <p:sp>
        <p:nvSpPr>
          <p:cNvPr id="12" name="Shape 8"/>
          <p:cNvSpPr/>
          <p:nvPr/>
        </p:nvSpPr>
        <p:spPr>
          <a:xfrm>
            <a:off x="2020824" y="4937760"/>
            <a:ext cx="1243584" cy="310896"/>
          </a:xfrm>
          <a:prstGeom prst="roundRect">
            <a:avLst>
              <a:gd name="adj" fmla="val 23529"/>
            </a:avLst>
          </a:prstGeom>
          <a:solidFill>
            <a:srgbClr val="2A4A63"/>
          </a:solidFill>
          <a:ln/>
        </p:spPr>
      </p:sp>
      <p:sp>
        <p:nvSpPr>
          <p:cNvPr id="13" name="Text 9"/>
          <p:cNvSpPr txBox="1"/>
          <p:nvPr/>
        </p:nvSpPr>
        <p:spPr>
          <a:xfrm>
            <a:off x="20208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OFFICER-REVIEWED</a:t>
            </a:r>
            <a:endParaRPr lang="en-US" sz="750" dirty="0"/>
          </a:p>
        </p:txBody>
      </p:sp>
      <p:sp>
        <p:nvSpPr>
          <p:cNvPr id="14" name="Shape 10"/>
          <p:cNvSpPr/>
          <p:nvPr/>
        </p:nvSpPr>
        <p:spPr>
          <a:xfrm>
            <a:off x="3392424" y="4937760"/>
            <a:ext cx="1243584" cy="310896"/>
          </a:xfrm>
          <a:prstGeom prst="roundRect">
            <a:avLst>
              <a:gd name="adj" fmla="val 23529"/>
            </a:avLst>
          </a:prstGeom>
          <a:solidFill>
            <a:srgbClr val="2A4A63"/>
          </a:solidFill>
          <a:ln/>
        </p:spPr>
      </p:sp>
      <p:sp>
        <p:nvSpPr>
          <p:cNvPr id="15" name="Text 11"/>
          <p:cNvSpPr txBox="1"/>
          <p:nvPr/>
        </p:nvSpPr>
        <p:spPr>
          <a:xfrm>
            <a:off x="33924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STATE-AGNOSTIC</a:t>
            </a:r>
            <a:endParaRPr lang="en-US" sz="750" dirty="0"/>
          </a:p>
        </p:txBody>
      </p:sp>
      <p:sp>
        <p:nvSpPr>
          <p:cNvPr id="16" name="Text 12"/>
          <p:cNvSpPr txBox="1"/>
          <p:nvPr/>
        </p:nvSpPr>
        <p:spPr>
          <a:xfrm>
            <a:off x="649224" y="5989320"/>
            <a:ext cx="4846320" cy="146304"/>
          </a:xfrm>
          <a:prstGeom prst="rect">
            <a:avLst/>
          </a:prstGeom>
          <a:noFill/>
          <a:ln/>
        </p:spPr>
        <p:txBody>
          <a:bodyPr wrap="square" lIns="0" tIns="0" rIns="0" bIns="0" rtlCol="0" anchor="t"/>
          <a:lstStyle/>
          <a:p>
            <a:pPr indent="0" marL="0">
              <a:buNone/>
            </a:pPr>
            <a:r>
              <a:rPr lang="en-US" sz="750" dirty="0">
                <a:solidFill>
                  <a:srgbClr val="C9D2DA"/>
                </a:solidFill>
                <a:latin typeface="Arial" pitchFamily="34" charset="0"/>
                <a:ea typeface="Arial" pitchFamily="34" charset="-122"/>
                <a:cs typeface="Arial" pitchFamily="34" charset="-120"/>
              </a:rPr>
              <a:t>A concept proposal and working prototype by Spontom Enterprise Private Limited</a:t>
            </a:r>
            <a:endParaRPr lang="en-US" sz="750" dirty="0"/>
          </a:p>
        </p:txBody>
      </p:sp>
      <p:sp>
        <p:nvSpPr>
          <p:cNvPr id="17" name="Text 13"/>
          <p:cNvSpPr txBox="1"/>
          <p:nvPr/>
        </p:nvSpPr>
        <p:spPr>
          <a:xfrm>
            <a:off x="649224" y="6217920"/>
            <a:ext cx="4846320" cy="128016"/>
          </a:xfrm>
          <a:prstGeom prst="rect">
            <a:avLst/>
          </a:prstGeom>
          <a:noFill/>
          <a:ln/>
        </p:spPr>
        <p:txBody>
          <a:bodyPr wrap="square" lIns="0" tIns="0" rIns="0" bIns="0" rtlCol="0" anchor="t"/>
          <a:lstStyle/>
          <a:p>
            <a:pPr indent="0" marL="0">
              <a:buNone/>
            </a:pPr>
            <a:r>
              <a:rPr lang="en-US" sz="650" dirty="0">
                <a:solidFill>
                  <a:srgbClr val="8FA0B0"/>
                </a:solidFill>
                <a:latin typeface="Arial" pitchFamily="34" charset="0"/>
                <a:ea typeface="Arial" pitchFamily="34" charset="-122"/>
                <a:cs typeface="Arial" pitchFamily="34" charset="-120"/>
              </a:rPr>
              <a:t>DPIIT Recognised  •  Visakhapatnam  •  September 2026</a:t>
            </a:r>
            <a:endParaRPr lang="en-US" sz="650" dirty="0"/>
          </a:p>
        </p:txBody>
      </p:sp>
      <p:sp>
        <p:nvSpPr>
          <p:cNvPr id="18" name="Shape 14"/>
          <p:cNvSpPr/>
          <p:nvPr/>
        </p:nvSpPr>
        <p:spPr>
          <a:xfrm>
            <a:off x="5897880" y="6291072"/>
            <a:ext cx="6065215" cy="329184"/>
          </a:xfrm>
          <a:prstGeom prst="roundRect">
            <a:avLst>
              <a:gd name="adj" fmla="val 16667"/>
            </a:avLst>
          </a:prstGeom>
          <a:solidFill>
            <a:srgbClr val="1B3149"/>
          </a:solidFill>
          <a:ln/>
        </p:spPr>
      </p:sp>
      <p:sp>
        <p:nvSpPr>
          <p:cNvPr id="19" name="Text 15"/>
          <p:cNvSpPr txBox="1"/>
          <p:nvPr/>
        </p:nvSpPr>
        <p:spPr>
          <a:xfrm>
            <a:off x="6035040" y="6291072"/>
            <a:ext cx="5790895" cy="329184"/>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Live prototype: Farm Health for a sample 2.4-acre groundnut field in Anantapur, AP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01 — PROBLEM UNDERSTANDING</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The data exists. It rarely meets at the field decision.</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Weather, soil, satellite and state records sit in separate systems; the farmer gets generic advice.</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[1] Agriculture Census 2015-16, via PIB (2023).  Field figures: sample farmer record; NDVI is live Sentinel-2 over the sample field polygon (14 Sep 2026).</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2</a:t>
            </a:r>
            <a:endParaRPr lang="en-US" sz="650" dirty="0"/>
          </a:p>
        </p:txBody>
      </p:sp>
      <p:sp>
        <p:nvSpPr>
          <p:cNvPr id="15" name="Shape 11"/>
          <p:cNvSpPr/>
          <p:nvPr/>
        </p:nvSpPr>
        <p:spPr>
          <a:xfrm>
            <a:off x="612648" y="1709928"/>
            <a:ext cx="3986784" cy="4233672"/>
          </a:xfrm>
          <a:prstGeom prst="roundRect">
            <a:avLst>
              <a:gd name="adj" fmla="val 2294"/>
            </a:avLst>
          </a:prstGeom>
          <a:solidFill>
            <a:srgbClr val="1B3149"/>
          </a:solidFill>
          <a:ln/>
        </p:spPr>
      </p:sp>
      <p:sp>
        <p:nvSpPr>
          <p:cNvPr id="16" name="Text 12"/>
          <p:cNvSpPr txBox="1"/>
          <p:nvPr/>
        </p:nvSpPr>
        <p:spPr>
          <a:xfrm>
            <a:off x="914400" y="2057400"/>
            <a:ext cx="3474720" cy="868680"/>
          </a:xfrm>
          <a:prstGeom prst="rect">
            <a:avLst/>
          </a:prstGeom>
          <a:noFill/>
          <a:ln/>
        </p:spPr>
        <p:txBody>
          <a:bodyPr wrap="square" lIns="0" tIns="0" rIns="0" bIns="0" rtlCol="0" anchor="t">
            <a:normAutofit/>
          </a:bodyPr>
          <a:lstStyle/>
          <a:p>
            <a:pPr indent="0" marL="0">
              <a:buNone/>
            </a:pPr>
            <a:r>
              <a:rPr lang="en-US" sz="2100" b="1" dirty="0">
                <a:solidFill>
                  <a:srgbClr val="FFFFFF"/>
                </a:solidFill>
                <a:latin typeface="Arial" pitchFamily="34" charset="0"/>
                <a:ea typeface="Arial" pitchFamily="34" charset="-122"/>
                <a:cs typeface="Arial" pitchFamily="34" charset="-120"/>
              </a:rPr>
              <a:t>One small field, many disconnected signals.</a:t>
            </a:r>
            <a:endParaRPr lang="en-US" sz="2100" dirty="0"/>
          </a:p>
        </p:txBody>
      </p:sp>
      <p:sp>
        <p:nvSpPr>
          <p:cNvPr id="17" name="Shape 13"/>
          <p:cNvSpPr/>
          <p:nvPr/>
        </p:nvSpPr>
        <p:spPr>
          <a:xfrm>
            <a:off x="914400" y="3063240"/>
            <a:ext cx="1005840" cy="45720"/>
          </a:xfrm>
          <a:prstGeom prst="rect">
            <a:avLst/>
          </a:prstGeom>
          <a:solidFill>
            <a:srgbClr val="E8694A"/>
          </a:solidFill>
          <a:ln/>
        </p:spPr>
      </p:sp>
      <p:sp>
        <p:nvSpPr>
          <p:cNvPr id="18" name="Text 14"/>
          <p:cNvSpPr txBox="1"/>
          <p:nvPr/>
        </p:nvSpPr>
        <p:spPr>
          <a:xfrm>
            <a:off x="914400"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~86%</a:t>
            </a:r>
            <a:endParaRPr lang="en-US" sz="2800" dirty="0"/>
          </a:p>
        </p:txBody>
      </p:sp>
      <p:sp>
        <p:nvSpPr>
          <p:cNvPr id="19" name="Text 15"/>
          <p:cNvSpPr txBox="1"/>
          <p:nvPr/>
        </p:nvSpPr>
        <p:spPr>
          <a:xfrm>
            <a:off x="914400"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holders small/marginal</a:t>
            </a:r>
            <a:endParaRPr lang="en-US" sz="900" dirty="0"/>
          </a:p>
        </p:txBody>
      </p:sp>
      <p:sp>
        <p:nvSpPr>
          <p:cNvPr id="20" name="Text 16"/>
          <p:cNvSpPr txBox="1"/>
          <p:nvPr/>
        </p:nvSpPr>
        <p:spPr>
          <a:xfrm>
            <a:off x="2084832"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2.4</a:t>
            </a:r>
            <a:endParaRPr lang="en-US" sz="2800" dirty="0"/>
          </a:p>
        </p:txBody>
      </p:sp>
      <p:sp>
        <p:nvSpPr>
          <p:cNvPr id="21" name="Text 17"/>
          <p:cNvSpPr txBox="1"/>
          <p:nvPr/>
        </p:nvSpPr>
        <p:spPr>
          <a:xfrm>
            <a:off x="2084832"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acres (demo field)</a:t>
            </a:r>
            <a:endParaRPr lang="en-US" sz="900" dirty="0"/>
          </a:p>
        </p:txBody>
      </p:sp>
      <p:sp>
        <p:nvSpPr>
          <p:cNvPr id="22" name="Text 18"/>
          <p:cNvSpPr txBox="1"/>
          <p:nvPr/>
        </p:nvSpPr>
        <p:spPr>
          <a:xfrm>
            <a:off x="3255264"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F3CB7A"/>
                </a:solidFill>
                <a:latin typeface="Arial" pitchFamily="34" charset="0"/>
                <a:ea typeface="Arial" pitchFamily="34" charset="-122"/>
                <a:cs typeface="Arial" pitchFamily="34" charset="-120"/>
              </a:rPr>
              <a:t>0.32</a:t>
            </a:r>
            <a:endParaRPr lang="en-US" sz="2800" dirty="0"/>
          </a:p>
        </p:txBody>
      </p:sp>
      <p:sp>
        <p:nvSpPr>
          <p:cNvPr id="23" name="Text 19"/>
          <p:cNvSpPr txBox="1"/>
          <p:nvPr/>
        </p:nvSpPr>
        <p:spPr>
          <a:xfrm>
            <a:off x="3255264"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NDVI vs ~0.62 expected</a:t>
            </a:r>
            <a:endParaRPr lang="en-US" sz="900" dirty="0"/>
          </a:p>
        </p:txBody>
      </p:sp>
      <p:sp>
        <p:nvSpPr>
          <p:cNvPr id="24" name="Text 20"/>
          <p:cNvSpPr txBox="1"/>
          <p:nvPr/>
        </p:nvSpPr>
        <p:spPr>
          <a:xfrm>
            <a:off x="914400" y="4389120"/>
            <a:ext cx="3474720" cy="822960"/>
          </a:xfrm>
          <a:prstGeom prst="rect">
            <a:avLst/>
          </a:prstGeom>
          <a:noFill/>
          <a:ln/>
        </p:spPr>
        <p:txBody>
          <a:bodyPr wrap="square" lIns="0" tIns="0" rIns="0" bIns="0" rtlCol="0" anchor="t">
            <a:normAutofit/>
          </a:bodyPr>
          <a:lstStyle/>
          <a:p>
            <a:pPr indent="0" marL="0">
              <a:buNone/>
            </a:pPr>
            <a:r>
              <a:rPr lang="en-US" sz="1200" dirty="0">
                <a:solidFill>
                  <a:srgbClr val="E4E9EE"/>
                </a:solidFill>
                <a:latin typeface="Arial" pitchFamily="34" charset="0"/>
                <a:ea typeface="Arial" pitchFamily="34" charset="-122"/>
                <a:cs typeface="Arial" pitchFamily="34" charset="-120"/>
              </a:rPr>
              <a:t>Lakshmi's groundnut is half as green as expected for its stage. Her soil card, forecast and satellite view never meet in one answer.</a:t>
            </a:r>
            <a:endParaRPr lang="en-US" sz="1200" dirty="0"/>
          </a:p>
        </p:txBody>
      </p:sp>
      <p:sp>
        <p:nvSpPr>
          <p:cNvPr id="25" name="Shape 21"/>
          <p:cNvSpPr/>
          <p:nvPr/>
        </p:nvSpPr>
        <p:spPr>
          <a:xfrm>
            <a:off x="914400" y="5349240"/>
            <a:ext cx="1554480" cy="310896"/>
          </a:xfrm>
          <a:prstGeom prst="roundRect">
            <a:avLst>
              <a:gd name="adj" fmla="val 23529"/>
            </a:avLst>
          </a:prstGeom>
          <a:solidFill>
            <a:srgbClr val="E8694A"/>
          </a:solidFill>
          <a:ln/>
        </p:spPr>
      </p:sp>
      <p:sp>
        <p:nvSpPr>
          <p:cNvPr id="26" name="Text 22"/>
          <p:cNvSpPr txBox="1"/>
          <p:nvPr/>
        </p:nvSpPr>
        <p:spPr>
          <a:xfrm>
            <a:off x="914400" y="5349240"/>
            <a:ext cx="1554480" cy="310896"/>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THE LAST-MILE GAP</a:t>
            </a:r>
            <a:endParaRPr lang="en-US" sz="800" dirty="0"/>
          </a:p>
        </p:txBody>
      </p:sp>
      <p:sp>
        <p:nvSpPr>
          <p:cNvPr id="27" name="Shape 23"/>
          <p:cNvSpPr/>
          <p:nvPr/>
        </p:nvSpPr>
        <p:spPr>
          <a:xfrm>
            <a:off x="4992624" y="2093976"/>
            <a:ext cx="1362456" cy="1344168"/>
          </a:xfrm>
          <a:prstGeom prst="roundRect">
            <a:avLst>
              <a:gd name="adj" fmla="val 6803"/>
            </a:avLst>
          </a:prstGeom>
          <a:solidFill>
            <a:srgbClr val="FFFDF7"/>
          </a:solidFill>
          <a:ln w="9525">
            <a:solidFill>
              <a:srgbClr val="DCD5C5"/>
            </a:solidFill>
            <a:prstDash val="solid"/>
          </a:ln>
        </p:spPr>
      </p:sp>
      <p:sp>
        <p:nvSpPr>
          <p:cNvPr id="28" name="Text 24"/>
          <p:cNvSpPr txBox="1"/>
          <p:nvPr/>
        </p:nvSpPr>
        <p:spPr>
          <a:xfrm>
            <a:off x="5084064"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DATA</a:t>
            </a:r>
            <a:endParaRPr lang="en-US" sz="1500" dirty="0"/>
          </a:p>
        </p:txBody>
      </p:sp>
      <p:sp>
        <p:nvSpPr>
          <p:cNvPr id="29" name="Text 25"/>
          <p:cNvSpPr txBox="1"/>
          <p:nvPr/>
        </p:nvSpPr>
        <p:spPr>
          <a:xfrm>
            <a:off x="5084064"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Forecast, soil card, satellite, records</a:t>
            </a:r>
            <a:endParaRPr lang="en-US" sz="950" dirty="0"/>
          </a:p>
        </p:txBody>
      </p:sp>
      <p:sp>
        <p:nvSpPr>
          <p:cNvPr id="30" name="Text 26"/>
          <p:cNvSpPr txBox="1"/>
          <p:nvPr/>
        </p:nvSpPr>
        <p:spPr>
          <a:xfrm>
            <a:off x="6355080"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1" name="Shape 27"/>
          <p:cNvSpPr/>
          <p:nvPr/>
        </p:nvSpPr>
        <p:spPr>
          <a:xfrm>
            <a:off x="6611112" y="2093976"/>
            <a:ext cx="1362456" cy="1344168"/>
          </a:xfrm>
          <a:prstGeom prst="roundRect">
            <a:avLst>
              <a:gd name="adj" fmla="val 6803"/>
            </a:avLst>
          </a:prstGeom>
          <a:solidFill>
            <a:srgbClr val="FFFDF7"/>
          </a:solidFill>
          <a:ln w="9525">
            <a:solidFill>
              <a:srgbClr val="DCD5C5"/>
            </a:solidFill>
            <a:prstDash val="solid"/>
          </a:ln>
        </p:spPr>
      </p:sp>
      <p:sp>
        <p:nvSpPr>
          <p:cNvPr id="32" name="Text 28"/>
          <p:cNvSpPr txBox="1"/>
          <p:nvPr/>
        </p:nvSpPr>
        <p:spPr>
          <a:xfrm>
            <a:off x="6702552"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ADVICE</a:t>
            </a:r>
            <a:endParaRPr lang="en-US" sz="1500" dirty="0"/>
          </a:p>
        </p:txBody>
      </p:sp>
      <p:sp>
        <p:nvSpPr>
          <p:cNvPr id="33" name="Text 29"/>
          <p:cNvSpPr txBox="1"/>
          <p:nvPr/>
        </p:nvSpPr>
        <p:spPr>
          <a:xfrm>
            <a:off x="6702552"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District or block level, generic</a:t>
            </a:r>
            <a:endParaRPr lang="en-US" sz="950" dirty="0"/>
          </a:p>
        </p:txBody>
      </p:sp>
      <p:sp>
        <p:nvSpPr>
          <p:cNvPr id="34" name="Text 30"/>
          <p:cNvSpPr txBox="1"/>
          <p:nvPr/>
        </p:nvSpPr>
        <p:spPr>
          <a:xfrm>
            <a:off x="7973568"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5" name="Shape 31"/>
          <p:cNvSpPr/>
          <p:nvPr/>
        </p:nvSpPr>
        <p:spPr>
          <a:xfrm>
            <a:off x="8229600" y="2093976"/>
            <a:ext cx="1362456" cy="1344168"/>
          </a:xfrm>
          <a:prstGeom prst="roundRect">
            <a:avLst>
              <a:gd name="adj" fmla="val 6803"/>
            </a:avLst>
          </a:prstGeom>
          <a:solidFill>
            <a:srgbClr val="FBE6DE"/>
          </a:solidFill>
          <a:ln w="9525">
            <a:solidFill>
              <a:srgbClr val="E8694A"/>
            </a:solidFill>
            <a:prstDash val="solid"/>
          </a:ln>
        </p:spPr>
      </p:sp>
      <p:sp>
        <p:nvSpPr>
          <p:cNvPr id="36" name="Text 32"/>
          <p:cNvSpPr txBox="1"/>
          <p:nvPr/>
        </p:nvSpPr>
        <p:spPr>
          <a:xfrm>
            <a:off x="8321040"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7" name="Text 33"/>
          <p:cNvSpPr txBox="1"/>
          <p:nvPr/>
        </p:nvSpPr>
        <p:spPr>
          <a:xfrm>
            <a:off x="8321040"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No field-level synthesis</a:t>
            </a:r>
            <a:endParaRPr lang="en-US" sz="950" dirty="0"/>
          </a:p>
        </p:txBody>
      </p:sp>
      <p:sp>
        <p:nvSpPr>
          <p:cNvPr id="38" name="Text 34"/>
          <p:cNvSpPr txBox="1"/>
          <p:nvPr/>
        </p:nvSpPr>
        <p:spPr>
          <a:xfrm>
            <a:off x="9592056"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9" name="Shape 35"/>
          <p:cNvSpPr/>
          <p:nvPr/>
        </p:nvSpPr>
        <p:spPr>
          <a:xfrm>
            <a:off x="9848088" y="2093976"/>
            <a:ext cx="1362456" cy="1344168"/>
          </a:xfrm>
          <a:prstGeom prst="roundRect">
            <a:avLst>
              <a:gd name="adj" fmla="val 6803"/>
            </a:avLst>
          </a:prstGeom>
          <a:solidFill>
            <a:srgbClr val="FFFDF7"/>
          </a:solidFill>
          <a:ln w="9525">
            <a:solidFill>
              <a:srgbClr val="DCD5C5"/>
            </a:solidFill>
            <a:prstDash val="solid"/>
          </a:ln>
        </p:spPr>
      </p:sp>
      <p:sp>
        <p:nvSpPr>
          <p:cNvPr id="40" name="Text 36"/>
          <p:cNvSpPr txBox="1"/>
          <p:nvPr/>
        </p:nvSpPr>
        <p:spPr>
          <a:xfrm>
            <a:off x="9939528"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DECISION</a:t>
            </a:r>
            <a:endParaRPr lang="en-US" sz="1500" dirty="0"/>
          </a:p>
        </p:txBody>
      </p:sp>
      <p:sp>
        <p:nvSpPr>
          <p:cNvPr id="41" name="Text 37"/>
          <p:cNvSpPr txBox="1"/>
          <p:nvPr/>
        </p:nvSpPr>
        <p:spPr>
          <a:xfrm>
            <a:off x="9939528"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Guesswork or delay</a:t>
            </a:r>
            <a:endParaRPr lang="en-US" sz="950" dirty="0"/>
          </a:p>
        </p:txBody>
      </p:sp>
      <p:sp>
        <p:nvSpPr>
          <p:cNvPr id="42" name="Text 38"/>
          <p:cNvSpPr txBox="1"/>
          <p:nvPr/>
        </p:nvSpPr>
        <p:spPr>
          <a:xfrm>
            <a:off x="4992624" y="4005072"/>
            <a:ext cx="3657600" cy="164592"/>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FOCUSED PROBLEM</a:t>
            </a:r>
            <a:endParaRPr lang="en-US" sz="850" dirty="0"/>
          </a:p>
        </p:txBody>
      </p:sp>
      <p:sp>
        <p:nvSpPr>
          <p:cNvPr id="43" name="Text 39"/>
          <p:cNvSpPr txBox="1"/>
          <p:nvPr/>
        </p:nvSpPr>
        <p:spPr>
          <a:xfrm>
            <a:off x="4992624" y="4434840"/>
            <a:ext cx="6400800" cy="777240"/>
          </a:xfrm>
          <a:prstGeom prst="rect">
            <a:avLst/>
          </a:prstGeom>
          <a:noFill/>
          <a:ln/>
        </p:spPr>
        <p:txBody>
          <a:bodyPr wrap="square" lIns="0" tIns="0" rIns="0" bIns="0" rtlCol="0" anchor="t">
            <a:normAutofit/>
          </a:bodyPr>
          <a:lstStyle/>
          <a:p>
            <a:pPr indent="0" marL="0">
              <a:buNone/>
            </a:pPr>
            <a:r>
              <a:rPr lang="en-US" sz="2100" b="1" dirty="0">
                <a:solidFill>
                  <a:srgbClr val="1B3149"/>
                </a:solidFill>
                <a:latin typeface="Arial" pitchFamily="34" charset="0"/>
                <a:ea typeface="Arial" pitchFamily="34" charset="-122"/>
                <a:cs typeface="Arial" pitchFamily="34" charset="-120"/>
              </a:rPr>
              <a:t>Farmers lack one timely advisor that combines their own field's data and explains itself.</a:t>
            </a:r>
            <a:endParaRPr lang="en-US" sz="2100" dirty="0"/>
          </a:p>
        </p:txBody>
      </p:sp>
      <p:sp>
        <p:nvSpPr>
          <p:cNvPr id="44" name="Text 40"/>
          <p:cNvSpPr txBox="1"/>
          <p:nvPr/>
        </p:nvSpPr>
        <p:spPr>
          <a:xfrm>
            <a:off x="4992624" y="5440680"/>
            <a:ext cx="1005840" cy="201168"/>
          </a:xfrm>
          <a:prstGeom prst="rect">
            <a:avLst/>
          </a:prstGeom>
          <a:noFill/>
          <a:ln/>
        </p:spPr>
        <p:txBody>
          <a:bodyPr wrap="square" lIns="0" tIns="0" rIns="0" bIns="0" rtlCol="0" anchor="t"/>
          <a:lstStyle/>
          <a:p>
            <a:pPr indent="0" marL="0">
              <a:buNone/>
            </a:pPr>
            <a:r>
              <a:rPr lang="en-US" sz="950" b="1" dirty="0">
                <a:solidFill>
                  <a:srgbClr val="E8694A"/>
                </a:solidFill>
                <a:latin typeface="Arial" pitchFamily="34" charset="0"/>
                <a:ea typeface="Arial" pitchFamily="34" charset="-122"/>
                <a:cs typeface="Arial" pitchFamily="34" charset="-120"/>
              </a:rPr>
              <a:t>Consequence</a:t>
            </a:r>
            <a:endParaRPr lang="en-US" sz="950" dirty="0"/>
          </a:p>
        </p:txBody>
      </p:sp>
      <p:sp>
        <p:nvSpPr>
          <p:cNvPr id="45" name="Text 41"/>
          <p:cNvSpPr txBox="1"/>
          <p:nvPr/>
        </p:nvSpPr>
        <p:spPr>
          <a:xfrm>
            <a:off x="5998464" y="5422392"/>
            <a:ext cx="5394960" cy="411480"/>
          </a:xfrm>
          <a:prstGeom prst="rect">
            <a:avLst/>
          </a:prstGeom>
          <a:noFill/>
          <a:ln/>
        </p:spPr>
        <p:txBody>
          <a:bodyPr wrap="square" lIns="0" tIns="0" rIns="0" bIns="0" rtlCol="0" anchor="t">
            <a:normAutofit/>
          </a:bodyPr>
          <a:lstStyle/>
          <a:p>
            <a:pPr indent="0" marL="0">
              <a:buNone/>
            </a:pPr>
            <a:r>
              <a:rPr lang="en-US" sz="1200" dirty="0">
                <a:solidFill>
                  <a:srgbClr val="1B3149"/>
                </a:solidFill>
                <a:latin typeface="Arial" pitchFamily="34" charset="0"/>
                <a:ea typeface="Arial" pitchFamily="34" charset="-122"/>
                <a:cs typeface="Arial" pitchFamily="34" charset="-120"/>
              </a:rPr>
              <a:t>Late disease response, mistimed irrigation and soil decline; officers see risk only after it spreads.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02 — PROPOSED SOLUTION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One advisor for the farmer's own field, grounded in data.</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Signals become a transparent score; Gemini explains and recommends; a human releases the advice.</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Excerpt of a real advisory from gemini-2.5-flash (prompt advisory_v1), 30 Sep 2026. The soil record is a labelled synthetic sample.</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3</a:t>
            </a:r>
            <a:endParaRPr lang="en-US" sz="650" dirty="0"/>
          </a:p>
        </p:txBody>
      </p:sp>
      <p:sp>
        <p:nvSpPr>
          <p:cNvPr id="15" name="Shape 11"/>
          <p:cNvSpPr/>
          <p:nvPr/>
        </p:nvSpPr>
        <p:spPr>
          <a:xfrm>
            <a:off x="640080" y="1783080"/>
            <a:ext cx="4892040" cy="1024128"/>
          </a:xfrm>
          <a:prstGeom prst="roundRect">
            <a:avLst>
              <a:gd name="adj" fmla="val 8929"/>
            </a:avLst>
          </a:prstGeom>
          <a:solidFill>
            <a:srgbClr val="FFFDF7"/>
          </a:solidFill>
          <a:ln w="9525">
            <a:solidFill>
              <a:srgbClr val="DCD5C5"/>
            </a:solidFill>
            <a:prstDash val="solid"/>
          </a:ln>
        </p:spPr>
      </p:sp>
      <p:sp>
        <p:nvSpPr>
          <p:cNvPr id="16" name="Shape 12"/>
          <p:cNvSpPr/>
          <p:nvPr/>
        </p:nvSpPr>
        <p:spPr>
          <a:xfrm>
            <a:off x="841248" y="1956816"/>
            <a:ext cx="393192" cy="393192"/>
          </a:xfrm>
          <a:prstGeom prst="ellipse">
            <a:avLst/>
          </a:prstGeom>
          <a:solidFill>
            <a:srgbClr val="12796D"/>
          </a:solidFill>
          <a:ln/>
        </p:spPr>
      </p:sp>
      <p:sp>
        <p:nvSpPr>
          <p:cNvPr id="17" name="Text 13"/>
          <p:cNvSpPr txBox="1"/>
          <p:nvPr/>
        </p:nvSpPr>
        <p:spPr>
          <a:xfrm>
            <a:off x="841248" y="195681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8" name="Text 14"/>
          <p:cNvSpPr txBox="1"/>
          <p:nvPr/>
        </p:nvSpPr>
        <p:spPr>
          <a:xfrm>
            <a:off x="1389888" y="2002536"/>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FARM INTELLIGENCE</a:t>
            </a:r>
            <a:endParaRPr lang="en-US" sz="1300" dirty="0"/>
          </a:p>
        </p:txBody>
      </p:sp>
      <p:sp>
        <p:nvSpPr>
          <p:cNvPr id="19" name="Text 15"/>
          <p:cNvSpPr txBox="1"/>
          <p:nvPr/>
        </p:nvSpPr>
        <p:spPr>
          <a:xfrm>
            <a:off x="3063240" y="2002536"/>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Weather, soil card and Sentinel-2 NDVI become an explainable Farm Health score.</a:t>
            </a:r>
            <a:endParaRPr lang="en-US" sz="1050" dirty="0"/>
          </a:p>
        </p:txBody>
      </p:sp>
      <p:sp>
        <p:nvSpPr>
          <p:cNvPr id="20" name="Shape 16"/>
          <p:cNvSpPr/>
          <p:nvPr/>
        </p:nvSpPr>
        <p:spPr>
          <a:xfrm>
            <a:off x="640080" y="3035808"/>
            <a:ext cx="4892040" cy="1024128"/>
          </a:xfrm>
          <a:prstGeom prst="roundRect">
            <a:avLst>
              <a:gd name="adj" fmla="val 8929"/>
            </a:avLst>
          </a:prstGeom>
          <a:solidFill>
            <a:srgbClr val="DCEEE8"/>
          </a:solidFill>
          <a:ln w="9525">
            <a:solidFill>
              <a:srgbClr val="12796D"/>
            </a:solidFill>
            <a:prstDash val="solid"/>
          </a:ln>
        </p:spPr>
      </p:sp>
      <p:sp>
        <p:nvSpPr>
          <p:cNvPr id="21" name="Shape 17"/>
          <p:cNvSpPr/>
          <p:nvPr/>
        </p:nvSpPr>
        <p:spPr>
          <a:xfrm>
            <a:off x="841248" y="3209544"/>
            <a:ext cx="393192" cy="393192"/>
          </a:xfrm>
          <a:prstGeom prst="ellipse">
            <a:avLst/>
          </a:prstGeom>
          <a:solidFill>
            <a:srgbClr val="12796D"/>
          </a:solidFill>
          <a:ln/>
        </p:spPr>
      </p:sp>
      <p:sp>
        <p:nvSpPr>
          <p:cNvPr id="22" name="Text 18"/>
          <p:cNvSpPr txBox="1"/>
          <p:nvPr/>
        </p:nvSpPr>
        <p:spPr>
          <a:xfrm>
            <a:off x="841248" y="320954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3" name="Text 19"/>
          <p:cNvSpPr txBox="1"/>
          <p:nvPr/>
        </p:nvSpPr>
        <p:spPr>
          <a:xfrm>
            <a:off x="1389888" y="3255264"/>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GROUNDED ADVICE</a:t>
            </a:r>
            <a:endParaRPr lang="en-US" sz="1300" dirty="0"/>
          </a:p>
        </p:txBody>
      </p:sp>
      <p:sp>
        <p:nvSpPr>
          <p:cNvPr id="24" name="Text 20"/>
          <p:cNvSpPr txBox="1"/>
          <p:nvPr/>
        </p:nvSpPr>
        <p:spPr>
          <a:xfrm>
            <a:off x="3063240" y="3255264"/>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Gemini reasons only over that context: observed, interpreted, action. English, Hindi, Telugu.</a:t>
            </a:r>
            <a:endParaRPr lang="en-US" sz="1050" dirty="0"/>
          </a:p>
        </p:txBody>
      </p:sp>
      <p:sp>
        <p:nvSpPr>
          <p:cNvPr id="25" name="Shape 21"/>
          <p:cNvSpPr/>
          <p:nvPr/>
        </p:nvSpPr>
        <p:spPr>
          <a:xfrm>
            <a:off x="640080" y="4288536"/>
            <a:ext cx="4892040" cy="1024128"/>
          </a:xfrm>
          <a:prstGeom prst="roundRect">
            <a:avLst>
              <a:gd name="adj" fmla="val 8929"/>
            </a:avLst>
          </a:prstGeom>
          <a:solidFill>
            <a:srgbClr val="FFFDF7"/>
          </a:solidFill>
          <a:ln w="9525">
            <a:solidFill>
              <a:srgbClr val="DCD5C5"/>
            </a:solidFill>
            <a:prstDash val="solid"/>
          </a:ln>
        </p:spPr>
      </p:sp>
      <p:sp>
        <p:nvSpPr>
          <p:cNvPr id="26" name="Shape 22"/>
          <p:cNvSpPr/>
          <p:nvPr/>
        </p:nvSpPr>
        <p:spPr>
          <a:xfrm>
            <a:off x="841248" y="4462272"/>
            <a:ext cx="393192" cy="393192"/>
          </a:xfrm>
          <a:prstGeom prst="ellipse">
            <a:avLst/>
          </a:prstGeom>
          <a:solidFill>
            <a:srgbClr val="E8694A"/>
          </a:solidFill>
          <a:ln/>
        </p:spPr>
      </p:sp>
      <p:sp>
        <p:nvSpPr>
          <p:cNvPr id="27" name="Text 23"/>
          <p:cNvSpPr txBox="1"/>
          <p:nvPr/>
        </p:nvSpPr>
        <p:spPr>
          <a:xfrm>
            <a:off x="841248" y="4462272"/>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8" name="Text 24"/>
          <p:cNvSpPr txBox="1"/>
          <p:nvPr/>
        </p:nvSpPr>
        <p:spPr>
          <a:xfrm>
            <a:off x="1389888" y="4507992"/>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HUMAN REVIEW</a:t>
            </a:r>
            <a:endParaRPr lang="en-US" sz="1300" dirty="0"/>
          </a:p>
        </p:txBody>
      </p:sp>
      <p:sp>
        <p:nvSpPr>
          <p:cNvPr id="29" name="Text 25"/>
          <p:cNvSpPr txBox="1"/>
          <p:nvPr/>
        </p:nvSpPr>
        <p:spPr>
          <a:xfrm>
            <a:off x="3063240" y="4507992"/>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An Agriculture Officer approves each AI output; Crop Doctor names the nearest agri office.</a:t>
            </a:r>
            <a:endParaRPr lang="en-US" sz="1050" dirty="0"/>
          </a:p>
        </p:txBody>
      </p:sp>
      <p:sp>
        <p:nvSpPr>
          <p:cNvPr id="30" name="Shape 26"/>
          <p:cNvSpPr/>
          <p:nvPr/>
        </p:nvSpPr>
        <p:spPr>
          <a:xfrm>
            <a:off x="5961888" y="1691640"/>
            <a:ext cx="5468112" cy="4361688"/>
          </a:xfrm>
          <a:prstGeom prst="roundRect">
            <a:avLst>
              <a:gd name="adj" fmla="val 1258"/>
            </a:avLst>
          </a:prstGeom>
          <a:solidFill>
            <a:srgbClr val="FFFFFF"/>
          </a:solidFill>
          <a:ln w="9525">
            <a:solidFill>
              <a:srgbClr val="1B3149"/>
            </a:solidFill>
            <a:prstDash val="solid"/>
          </a:ln>
        </p:spPr>
      </p:sp>
      <p:sp>
        <p:nvSpPr>
          <p:cNvPr id="31" name="Shape 27"/>
          <p:cNvSpPr/>
          <p:nvPr/>
        </p:nvSpPr>
        <p:spPr>
          <a:xfrm>
            <a:off x="5961888" y="1691640"/>
            <a:ext cx="5468112" cy="585216"/>
          </a:xfrm>
          <a:prstGeom prst="rect">
            <a:avLst/>
          </a:prstGeom>
          <a:solidFill>
            <a:srgbClr val="1B3149"/>
          </a:solidFill>
          <a:ln/>
        </p:spPr>
      </p:sp>
      <p:sp>
        <p:nvSpPr>
          <p:cNvPr id="32" name="Text 28"/>
          <p:cNvSpPr txBox="1"/>
          <p:nvPr/>
        </p:nvSpPr>
        <p:spPr>
          <a:xfrm>
            <a:off x="6236208" y="1691640"/>
            <a:ext cx="3200400" cy="58521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TODAY'S ADVISORY</a:t>
            </a:r>
            <a:endParaRPr lang="en-US" sz="1100" dirty="0"/>
          </a:p>
        </p:txBody>
      </p:sp>
      <p:sp>
        <p:nvSpPr>
          <p:cNvPr id="33" name="Shape 29"/>
          <p:cNvSpPr/>
          <p:nvPr/>
        </p:nvSpPr>
        <p:spPr>
          <a:xfrm>
            <a:off x="9555480" y="1828800"/>
            <a:ext cx="1600200" cy="310896"/>
          </a:xfrm>
          <a:prstGeom prst="roundRect">
            <a:avLst>
              <a:gd name="adj" fmla="val 23529"/>
            </a:avLst>
          </a:prstGeom>
          <a:solidFill>
            <a:srgbClr val="2A4A63"/>
          </a:solidFill>
          <a:ln/>
        </p:spPr>
      </p:sp>
      <p:sp>
        <p:nvSpPr>
          <p:cNvPr id="34" name="Text 30"/>
          <p:cNvSpPr txBox="1"/>
          <p:nvPr/>
        </p:nvSpPr>
        <p:spPr>
          <a:xfrm>
            <a:off x="9555480" y="1828800"/>
            <a:ext cx="1600200" cy="310896"/>
          </a:xfrm>
          <a:prstGeom prst="rect">
            <a:avLst/>
          </a:prstGeom>
          <a:noFill/>
          <a:ln/>
        </p:spPr>
        <p:txBody>
          <a:bodyPr wrap="square" lIns="0" tIns="0" rIns="0" bIns="0" rtlCol="0" anchor="ctr"/>
          <a:lstStyle/>
          <a:p>
            <a:pPr algn="ctr" indent="0" marL="0">
              <a:buNone/>
            </a:pPr>
            <a:r>
              <a:rPr lang="en-US" sz="750" b="1" spc="50" kern="0" dirty="0">
                <a:solidFill>
                  <a:srgbClr val="F3CB7A"/>
                </a:solidFill>
                <a:latin typeface="Arial" pitchFamily="34" charset="0"/>
                <a:ea typeface="Arial" pitchFamily="34" charset="-122"/>
                <a:cs typeface="Arial" pitchFamily="34" charset="-120"/>
              </a:rPr>
              <a:t>GEMINI • SCHEMA-CHECKED</a:t>
            </a:r>
            <a:endParaRPr lang="en-US" sz="750" dirty="0"/>
          </a:p>
        </p:txBody>
      </p:sp>
      <p:sp>
        <p:nvSpPr>
          <p:cNvPr id="35" name="Text 31"/>
          <p:cNvSpPr txBox="1"/>
          <p:nvPr/>
        </p:nvSpPr>
        <p:spPr>
          <a:xfrm>
            <a:off x="6236208" y="2487168"/>
            <a:ext cx="4919472" cy="365760"/>
          </a:xfrm>
          <a:prstGeom prst="rect">
            <a:avLst/>
          </a:prstGeom>
          <a:noFill/>
          <a:ln/>
        </p:spPr>
        <p:txBody>
          <a:bodyPr wrap="square" lIns="0" tIns="0" rIns="0" bIns="0" rtlCol="0" anchor="t">
            <a:normAutofit/>
          </a:bodyPr>
          <a:lstStyle/>
          <a:p>
            <a:pPr indent="0" marL="0">
              <a:buNone/>
            </a:pPr>
            <a:r>
              <a:rPr lang="en-US" sz="1500" b="1" dirty="0">
                <a:solidFill>
                  <a:srgbClr val="1B3149"/>
                </a:solidFill>
                <a:latin typeface="Arial" pitchFamily="34" charset="0"/>
                <a:ea typeface="Arial" pitchFamily="34" charset="-122"/>
                <a:cs typeface="Arial" pitchFamily="34" charset="-120"/>
              </a:rPr>
              <a:t>Groundnut • pod development • day 80 • rainfed</a:t>
            </a:r>
            <a:endParaRPr lang="en-US" sz="1500" dirty="0"/>
          </a:p>
        </p:txBody>
      </p:sp>
      <p:sp>
        <p:nvSpPr>
          <p:cNvPr id="36" name="Shape 32"/>
          <p:cNvSpPr/>
          <p:nvPr/>
        </p:nvSpPr>
        <p:spPr>
          <a:xfrm>
            <a:off x="6236208" y="3017520"/>
            <a:ext cx="384048" cy="384048"/>
          </a:xfrm>
          <a:prstGeom prst="ellipse">
            <a:avLst/>
          </a:prstGeom>
          <a:solidFill>
            <a:srgbClr val="12796D"/>
          </a:solidFill>
          <a:ln/>
        </p:spPr>
      </p:sp>
      <p:sp>
        <p:nvSpPr>
          <p:cNvPr id="37" name="Text 33"/>
          <p:cNvSpPr txBox="1"/>
          <p:nvPr/>
        </p:nvSpPr>
        <p:spPr>
          <a:xfrm>
            <a:off x="6236208" y="30175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8" name="Text 34"/>
          <p:cNvSpPr txBox="1"/>
          <p:nvPr/>
        </p:nvSpPr>
        <p:spPr>
          <a:xfrm>
            <a:off x="6784848" y="3035808"/>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Observed: NDVI 0.32 vs ~0.62 expected (Sentinel-2, 14 Sep).</a:t>
            </a:r>
            <a:endParaRPr lang="en-US" sz="1050" dirty="0"/>
          </a:p>
        </p:txBody>
      </p:sp>
      <p:sp>
        <p:nvSpPr>
          <p:cNvPr id="39" name="Shape 35"/>
          <p:cNvSpPr/>
          <p:nvPr/>
        </p:nvSpPr>
        <p:spPr>
          <a:xfrm>
            <a:off x="6236208" y="3493008"/>
            <a:ext cx="384048" cy="384048"/>
          </a:xfrm>
          <a:prstGeom prst="ellipse">
            <a:avLst/>
          </a:prstGeom>
          <a:solidFill>
            <a:srgbClr val="12796D"/>
          </a:solidFill>
          <a:ln/>
        </p:spPr>
      </p:sp>
      <p:sp>
        <p:nvSpPr>
          <p:cNvPr id="40" name="Text 36"/>
          <p:cNvSpPr txBox="1"/>
          <p:nvPr/>
        </p:nvSpPr>
        <p:spPr>
          <a:xfrm>
            <a:off x="6236208" y="3493008"/>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1" name="Text 37"/>
          <p:cNvSpPr txBox="1"/>
          <p:nvPr/>
        </p:nvSpPr>
        <p:spPr>
          <a:xfrm>
            <a:off x="6784848" y="3511296"/>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Observed: organic carbon 0.38%, N 176 kg/ha (soil card, sample).</a:t>
            </a:r>
            <a:endParaRPr lang="en-US" sz="1050" dirty="0"/>
          </a:p>
        </p:txBody>
      </p:sp>
      <p:sp>
        <p:nvSpPr>
          <p:cNvPr id="42" name="Shape 38"/>
          <p:cNvSpPr/>
          <p:nvPr/>
        </p:nvSpPr>
        <p:spPr>
          <a:xfrm>
            <a:off x="6236208" y="3968496"/>
            <a:ext cx="384048" cy="384048"/>
          </a:xfrm>
          <a:prstGeom prst="ellipse">
            <a:avLst/>
          </a:prstGeom>
          <a:solidFill>
            <a:srgbClr val="12796D"/>
          </a:solidFill>
          <a:ln/>
        </p:spPr>
      </p:sp>
      <p:sp>
        <p:nvSpPr>
          <p:cNvPr id="43" name="Text 39"/>
          <p:cNvSpPr txBox="1"/>
          <p:nvPr/>
        </p:nvSpPr>
        <p:spPr>
          <a:xfrm>
            <a:off x="6236208" y="396849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44" name="Text 40"/>
          <p:cNvSpPr txBox="1"/>
          <p:nvPr/>
        </p:nvSpPr>
        <p:spPr>
          <a:xfrm>
            <a:off x="6784848" y="3986784"/>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Within 48 h: scout the field for Early Leaf Spot symptoms.</a:t>
            </a:r>
            <a:endParaRPr lang="en-US" sz="1050" dirty="0"/>
          </a:p>
        </p:txBody>
      </p:sp>
      <p:sp>
        <p:nvSpPr>
          <p:cNvPr id="45" name="Shape 41"/>
          <p:cNvSpPr/>
          <p:nvPr/>
        </p:nvSpPr>
        <p:spPr>
          <a:xfrm>
            <a:off x="6236208" y="4443984"/>
            <a:ext cx="384048" cy="384048"/>
          </a:xfrm>
          <a:prstGeom prst="ellipse">
            <a:avLst/>
          </a:prstGeom>
          <a:solidFill>
            <a:srgbClr val="12796D"/>
          </a:solidFill>
          <a:ln/>
        </p:spPr>
      </p:sp>
      <p:sp>
        <p:nvSpPr>
          <p:cNvPr id="46" name="Text 42"/>
          <p:cNvSpPr txBox="1"/>
          <p:nvPr/>
        </p:nvSpPr>
        <p:spPr>
          <a:xfrm>
            <a:off x="6236208" y="4443984"/>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47" name="Text 43"/>
          <p:cNvSpPr txBox="1"/>
          <p:nvPr/>
        </p:nvSpPr>
        <p:spPr>
          <a:xfrm>
            <a:off x="6784848" y="4462272"/>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Within 48 h: ask the KVK or officer to confirm on site.</a:t>
            </a:r>
            <a:endParaRPr lang="en-US" sz="1050" dirty="0"/>
          </a:p>
        </p:txBody>
      </p:sp>
      <p:sp>
        <p:nvSpPr>
          <p:cNvPr id="48" name="Shape 44"/>
          <p:cNvSpPr/>
          <p:nvPr/>
        </p:nvSpPr>
        <p:spPr>
          <a:xfrm>
            <a:off x="6236208" y="4919472"/>
            <a:ext cx="384048" cy="384048"/>
          </a:xfrm>
          <a:prstGeom prst="ellipse">
            <a:avLst/>
          </a:prstGeom>
          <a:solidFill>
            <a:srgbClr val="E8694A"/>
          </a:solidFill>
          <a:ln/>
        </p:spPr>
      </p:sp>
      <p:sp>
        <p:nvSpPr>
          <p:cNvPr id="49" name="Text 45"/>
          <p:cNvSpPr txBox="1"/>
          <p:nvPr/>
        </p:nvSpPr>
        <p:spPr>
          <a:xfrm>
            <a:off x="6236208" y="491947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50" name="Text 46"/>
          <p:cNvSpPr txBox="1"/>
          <p:nvPr/>
        </p:nvSpPr>
        <p:spPr>
          <a:xfrm>
            <a:off x="6784848" y="4937760"/>
            <a:ext cx="4370832" cy="365760"/>
          </a:xfrm>
          <a:prstGeom prst="rect">
            <a:avLst/>
          </a:prstGeom>
          <a:noFill/>
          <a:ln/>
        </p:spPr>
        <p:txBody>
          <a:bodyPr wrap="square" lIns="0" tIns="0" rIns="0" bIns="0" rtlCol="0" anchor="ctr">
            <a:normAutofit/>
          </a:bodyPr>
          <a:lstStyle/>
          <a:p>
            <a:pPr indent="0" marL="0">
              <a:buNone/>
            </a:pPr>
            <a:r>
              <a:rPr lang="en-US" sz="1050" b="1" dirty="0">
                <a:solidFill>
                  <a:srgbClr val="E8694A"/>
                </a:solidFill>
                <a:latin typeface="Arial" pitchFamily="34" charset="0"/>
                <a:ea typeface="Arial" pitchFamily="34" charset="-122"/>
                <a:cs typeface="Arial" pitchFamily="34" charset="-120"/>
              </a:rPr>
              <a:t>Regenerative: return groundnut residue to the soil after harvest.</a:t>
            </a:r>
            <a:endParaRPr lang="en-US" sz="1050" dirty="0"/>
          </a:p>
        </p:txBody>
      </p:sp>
      <p:sp>
        <p:nvSpPr>
          <p:cNvPr id="51" name="Shape 47"/>
          <p:cNvSpPr/>
          <p:nvPr/>
        </p:nvSpPr>
        <p:spPr>
          <a:xfrm>
            <a:off x="6236208" y="5394960"/>
            <a:ext cx="4919472" cy="0"/>
          </a:xfrm>
          <a:prstGeom prst="line">
            <a:avLst/>
          </a:prstGeom>
          <a:noFill/>
          <a:ln w="9525">
            <a:solidFill>
              <a:srgbClr val="DCD5C5"/>
            </a:solidFill>
            <a:prstDash val="solid"/>
          </a:ln>
        </p:spPr>
      </p:sp>
      <p:sp>
        <p:nvSpPr>
          <p:cNvPr id="52" name="Text 48"/>
          <p:cNvSpPr txBox="1"/>
          <p:nvPr/>
        </p:nvSpPr>
        <p:spPr>
          <a:xfrm>
            <a:off x="6236208" y="5513832"/>
            <a:ext cx="3273552" cy="347472"/>
          </a:xfrm>
          <a:prstGeom prst="rect">
            <a:avLst/>
          </a:prstGeom>
          <a:noFill/>
          <a:ln/>
        </p:spPr>
        <p:txBody>
          <a:bodyPr wrap="square" lIns="0" tIns="0" rIns="0" bIns="0" rtlCol="0" anchor="ctr">
            <a:normAutofit/>
          </a:bodyPr>
          <a:lstStyle/>
          <a:p>
            <a:pPr indent="0" marL="0">
              <a:buNone/>
            </a:pPr>
            <a:r>
              <a:rPr lang="en-US" sz="1050" b="1" dirty="0">
                <a:solidFill>
                  <a:srgbClr val="12796D"/>
                </a:solidFill>
                <a:latin typeface="Arial" pitchFamily="34" charset="0"/>
                <a:ea typeface="Arial" pitchFamily="34" charset="-122"/>
                <a:cs typeface="Arial" pitchFamily="34" charset="-120"/>
              </a:rPr>
              <a:t>Risk: high • confidence 55% • awaiting review</a:t>
            </a:r>
            <a:endParaRPr lang="en-US" sz="1050" dirty="0"/>
          </a:p>
        </p:txBody>
      </p:sp>
      <p:sp>
        <p:nvSpPr>
          <p:cNvPr id="53" name="Shape 49"/>
          <p:cNvSpPr/>
          <p:nvPr/>
        </p:nvSpPr>
        <p:spPr>
          <a:xfrm>
            <a:off x="9646920" y="5504688"/>
            <a:ext cx="1508760" cy="347472"/>
          </a:xfrm>
          <a:prstGeom prst="roundRect">
            <a:avLst>
              <a:gd name="adj" fmla="val 21053"/>
            </a:avLst>
          </a:prstGeom>
          <a:solidFill>
            <a:srgbClr val="E8694A"/>
          </a:solidFill>
          <a:ln/>
        </p:spPr>
      </p:sp>
      <p:sp>
        <p:nvSpPr>
          <p:cNvPr id="54" name="Text 50"/>
          <p:cNvSpPr txBox="1"/>
          <p:nvPr/>
        </p:nvSpPr>
        <p:spPr>
          <a:xfrm>
            <a:off x="9646920" y="5504688"/>
            <a:ext cx="1508760" cy="347472"/>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Arial" pitchFamily="34" charset="0"/>
                <a:ea typeface="Arial" pitchFamily="34" charset="-122"/>
                <a:cs typeface="Arial" pitchFamily="34" charset="-120"/>
              </a:rPr>
              <a:t>LISTEN (TTS)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03 — HOW IT WORKS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From field signal to reviewed action in seven steps.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Rules where rules suffice, Gemini where reasoning helps, a person where consequences matter.</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Farm Health weights: vegetation 30% • soil 25% • weather 20% • water 15% • crop condition 10% (PRD §11; services/api/app/intelligence/health.py).</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4</a:t>
            </a:r>
            <a:endParaRPr lang="en-US" sz="650" dirty="0"/>
          </a:p>
        </p:txBody>
      </p:sp>
      <p:sp>
        <p:nvSpPr>
          <p:cNvPr id="15" name="Shape 11"/>
          <p:cNvSpPr/>
          <p:nvPr/>
        </p:nvSpPr>
        <p:spPr>
          <a:xfrm>
            <a:off x="594360" y="1892808"/>
            <a:ext cx="1336722" cy="1389888"/>
          </a:xfrm>
          <a:prstGeom prst="roundRect">
            <a:avLst>
              <a:gd name="adj" fmla="val 6841"/>
            </a:avLst>
          </a:prstGeom>
          <a:solidFill>
            <a:srgbClr val="FFFDF7"/>
          </a:solidFill>
          <a:ln w="9525">
            <a:solidFill>
              <a:srgbClr val="DCD5C5"/>
            </a:solidFill>
            <a:prstDash val="solid"/>
          </a:ln>
        </p:spPr>
      </p:sp>
      <p:sp>
        <p:nvSpPr>
          <p:cNvPr id="16" name="Shape 12"/>
          <p:cNvSpPr/>
          <p:nvPr/>
        </p:nvSpPr>
        <p:spPr>
          <a:xfrm>
            <a:off x="722376" y="2011680"/>
            <a:ext cx="393192" cy="393192"/>
          </a:xfrm>
          <a:prstGeom prst="ellipse">
            <a:avLst/>
          </a:prstGeom>
          <a:solidFill>
            <a:srgbClr val="12796D"/>
          </a:solidFill>
          <a:ln/>
        </p:spPr>
      </p:sp>
      <p:sp>
        <p:nvSpPr>
          <p:cNvPr id="17" name="Text 13"/>
          <p:cNvSpPr txBox="1"/>
          <p:nvPr/>
        </p:nvSpPr>
        <p:spPr>
          <a:xfrm>
            <a:off x="722376"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8" name="Text 14"/>
          <p:cNvSpPr txBox="1"/>
          <p:nvPr/>
        </p:nvSpPr>
        <p:spPr>
          <a:xfrm>
            <a:off x="640080"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FIELD</a:t>
            </a:r>
            <a:endParaRPr lang="en-US" sz="1100" dirty="0"/>
          </a:p>
        </p:txBody>
      </p:sp>
      <p:sp>
        <p:nvSpPr>
          <p:cNvPr id="19" name="Text 15"/>
          <p:cNvSpPr txBox="1"/>
          <p:nvPr/>
        </p:nvSpPr>
        <p:spPr>
          <a:xfrm>
            <a:off x="640080"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Map or state record</a:t>
            </a:r>
            <a:endParaRPr lang="en-US" sz="850" dirty="0"/>
          </a:p>
        </p:txBody>
      </p:sp>
      <p:sp>
        <p:nvSpPr>
          <p:cNvPr id="20" name="Text 16"/>
          <p:cNvSpPr txBox="1"/>
          <p:nvPr/>
        </p:nvSpPr>
        <p:spPr>
          <a:xfrm>
            <a:off x="1931082"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1" name="Shape 17"/>
          <p:cNvSpPr/>
          <p:nvPr/>
        </p:nvSpPr>
        <p:spPr>
          <a:xfrm>
            <a:off x="2205402" y="1892808"/>
            <a:ext cx="1336722" cy="1389888"/>
          </a:xfrm>
          <a:prstGeom prst="roundRect">
            <a:avLst>
              <a:gd name="adj" fmla="val 6841"/>
            </a:avLst>
          </a:prstGeom>
          <a:solidFill>
            <a:srgbClr val="FFFDF7"/>
          </a:solidFill>
          <a:ln w="9525">
            <a:solidFill>
              <a:srgbClr val="DCD5C5"/>
            </a:solidFill>
            <a:prstDash val="solid"/>
          </a:ln>
        </p:spPr>
      </p:sp>
      <p:sp>
        <p:nvSpPr>
          <p:cNvPr id="22" name="Shape 18"/>
          <p:cNvSpPr/>
          <p:nvPr/>
        </p:nvSpPr>
        <p:spPr>
          <a:xfrm>
            <a:off x="2333418" y="2011680"/>
            <a:ext cx="393192" cy="393192"/>
          </a:xfrm>
          <a:prstGeom prst="ellipse">
            <a:avLst/>
          </a:prstGeom>
          <a:solidFill>
            <a:srgbClr val="12796D"/>
          </a:solidFill>
          <a:ln/>
        </p:spPr>
      </p:sp>
      <p:sp>
        <p:nvSpPr>
          <p:cNvPr id="23" name="Text 19"/>
          <p:cNvSpPr txBox="1"/>
          <p:nvPr/>
        </p:nvSpPr>
        <p:spPr>
          <a:xfrm>
            <a:off x="2333418"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4" name="Text 20"/>
          <p:cNvSpPr txBox="1"/>
          <p:nvPr/>
        </p:nvSpPr>
        <p:spPr>
          <a:xfrm>
            <a:off x="2251122"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SENSE</a:t>
            </a:r>
            <a:endParaRPr lang="en-US" sz="1100" dirty="0"/>
          </a:p>
        </p:txBody>
      </p:sp>
      <p:sp>
        <p:nvSpPr>
          <p:cNvPr id="25" name="Text 21"/>
          <p:cNvSpPr txBox="1"/>
          <p:nvPr/>
        </p:nvSpPr>
        <p:spPr>
          <a:xfrm>
            <a:off x="2251122"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Weather • soil • NDVI</a:t>
            </a:r>
            <a:endParaRPr lang="en-US" sz="850" dirty="0"/>
          </a:p>
        </p:txBody>
      </p:sp>
      <p:sp>
        <p:nvSpPr>
          <p:cNvPr id="26" name="Text 22"/>
          <p:cNvSpPr txBox="1"/>
          <p:nvPr/>
        </p:nvSpPr>
        <p:spPr>
          <a:xfrm>
            <a:off x="3542124"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7" name="Shape 23"/>
          <p:cNvSpPr/>
          <p:nvPr/>
        </p:nvSpPr>
        <p:spPr>
          <a:xfrm>
            <a:off x="3816444" y="1892808"/>
            <a:ext cx="1336722" cy="1389888"/>
          </a:xfrm>
          <a:prstGeom prst="roundRect">
            <a:avLst>
              <a:gd name="adj" fmla="val 6841"/>
            </a:avLst>
          </a:prstGeom>
          <a:solidFill>
            <a:srgbClr val="FFFDF7"/>
          </a:solidFill>
          <a:ln w="9525">
            <a:solidFill>
              <a:srgbClr val="DCD5C5"/>
            </a:solidFill>
            <a:prstDash val="solid"/>
          </a:ln>
        </p:spPr>
      </p:sp>
      <p:sp>
        <p:nvSpPr>
          <p:cNvPr id="28" name="Shape 24"/>
          <p:cNvSpPr/>
          <p:nvPr/>
        </p:nvSpPr>
        <p:spPr>
          <a:xfrm>
            <a:off x="3944460" y="2011680"/>
            <a:ext cx="393192" cy="393192"/>
          </a:xfrm>
          <a:prstGeom prst="ellipse">
            <a:avLst/>
          </a:prstGeom>
          <a:solidFill>
            <a:srgbClr val="12796D"/>
          </a:solidFill>
          <a:ln/>
        </p:spPr>
      </p:sp>
      <p:sp>
        <p:nvSpPr>
          <p:cNvPr id="29" name="Text 25"/>
          <p:cNvSpPr txBox="1"/>
          <p:nvPr/>
        </p:nvSpPr>
        <p:spPr>
          <a:xfrm>
            <a:off x="3944460"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0" name="Text 26"/>
          <p:cNvSpPr txBox="1"/>
          <p:nvPr/>
        </p:nvSpPr>
        <p:spPr>
          <a:xfrm>
            <a:off x="3862164"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SCORE</a:t>
            </a:r>
            <a:endParaRPr lang="en-US" sz="1100" dirty="0"/>
          </a:p>
        </p:txBody>
      </p:sp>
      <p:sp>
        <p:nvSpPr>
          <p:cNvPr id="31" name="Text 27"/>
          <p:cNvSpPr txBox="1"/>
          <p:nvPr/>
        </p:nvSpPr>
        <p:spPr>
          <a:xfrm>
            <a:off x="3862164"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Farm Health 0–100</a:t>
            </a:r>
            <a:endParaRPr lang="en-US" sz="850" dirty="0"/>
          </a:p>
        </p:txBody>
      </p:sp>
      <p:sp>
        <p:nvSpPr>
          <p:cNvPr id="32" name="Text 28"/>
          <p:cNvSpPr txBox="1"/>
          <p:nvPr/>
        </p:nvSpPr>
        <p:spPr>
          <a:xfrm>
            <a:off x="5153167"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3" name="Shape 29"/>
          <p:cNvSpPr/>
          <p:nvPr/>
        </p:nvSpPr>
        <p:spPr>
          <a:xfrm>
            <a:off x="5427487" y="1892808"/>
            <a:ext cx="1336722" cy="1389888"/>
          </a:xfrm>
          <a:prstGeom prst="roundRect">
            <a:avLst>
              <a:gd name="adj" fmla="val 6841"/>
            </a:avLst>
          </a:prstGeom>
          <a:solidFill>
            <a:srgbClr val="DCEEE8"/>
          </a:solidFill>
          <a:ln w="9525">
            <a:solidFill>
              <a:srgbClr val="12796D"/>
            </a:solidFill>
            <a:prstDash val="solid"/>
          </a:ln>
        </p:spPr>
      </p:sp>
      <p:sp>
        <p:nvSpPr>
          <p:cNvPr id="34" name="Shape 30"/>
          <p:cNvSpPr/>
          <p:nvPr/>
        </p:nvSpPr>
        <p:spPr>
          <a:xfrm>
            <a:off x="5555503" y="2011680"/>
            <a:ext cx="393192" cy="393192"/>
          </a:xfrm>
          <a:prstGeom prst="ellipse">
            <a:avLst/>
          </a:prstGeom>
          <a:solidFill>
            <a:srgbClr val="12796D"/>
          </a:solidFill>
          <a:ln/>
        </p:spPr>
      </p:sp>
      <p:sp>
        <p:nvSpPr>
          <p:cNvPr id="35" name="Text 31"/>
          <p:cNvSpPr txBox="1"/>
          <p:nvPr/>
        </p:nvSpPr>
        <p:spPr>
          <a:xfrm>
            <a:off x="5555503"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6" name="Text 32"/>
          <p:cNvSpPr txBox="1"/>
          <p:nvPr/>
        </p:nvSpPr>
        <p:spPr>
          <a:xfrm>
            <a:off x="5473207"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ADVISE</a:t>
            </a:r>
            <a:endParaRPr lang="en-US" sz="1100" dirty="0"/>
          </a:p>
        </p:txBody>
      </p:sp>
      <p:sp>
        <p:nvSpPr>
          <p:cNvPr id="37" name="Text 33"/>
          <p:cNvSpPr txBox="1"/>
          <p:nvPr/>
        </p:nvSpPr>
        <p:spPr>
          <a:xfrm>
            <a:off x="5473207"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Gemini, JSON schema</a:t>
            </a:r>
            <a:endParaRPr lang="en-US" sz="850" dirty="0"/>
          </a:p>
        </p:txBody>
      </p:sp>
      <p:sp>
        <p:nvSpPr>
          <p:cNvPr id="38" name="Text 34"/>
          <p:cNvSpPr txBox="1"/>
          <p:nvPr/>
        </p:nvSpPr>
        <p:spPr>
          <a:xfrm>
            <a:off x="6764209"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9" name="Shape 35"/>
          <p:cNvSpPr/>
          <p:nvPr/>
        </p:nvSpPr>
        <p:spPr>
          <a:xfrm>
            <a:off x="7038529" y="1892808"/>
            <a:ext cx="1336722" cy="1389888"/>
          </a:xfrm>
          <a:prstGeom prst="roundRect">
            <a:avLst>
              <a:gd name="adj" fmla="val 6841"/>
            </a:avLst>
          </a:prstGeom>
          <a:solidFill>
            <a:srgbClr val="FFFDF7"/>
          </a:solidFill>
          <a:ln w="9525">
            <a:solidFill>
              <a:srgbClr val="DCD5C5"/>
            </a:solidFill>
            <a:prstDash val="solid"/>
          </a:ln>
        </p:spPr>
      </p:sp>
      <p:sp>
        <p:nvSpPr>
          <p:cNvPr id="40" name="Shape 36"/>
          <p:cNvSpPr/>
          <p:nvPr/>
        </p:nvSpPr>
        <p:spPr>
          <a:xfrm>
            <a:off x="7166545" y="2011680"/>
            <a:ext cx="393192" cy="393192"/>
          </a:xfrm>
          <a:prstGeom prst="ellipse">
            <a:avLst/>
          </a:prstGeom>
          <a:solidFill>
            <a:srgbClr val="12796D"/>
          </a:solidFill>
          <a:ln/>
        </p:spPr>
      </p:sp>
      <p:sp>
        <p:nvSpPr>
          <p:cNvPr id="41" name="Text 37"/>
          <p:cNvSpPr txBox="1"/>
          <p:nvPr/>
        </p:nvSpPr>
        <p:spPr>
          <a:xfrm>
            <a:off x="7166545"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42" name="Text 38"/>
          <p:cNvSpPr txBox="1"/>
          <p:nvPr/>
        </p:nvSpPr>
        <p:spPr>
          <a:xfrm>
            <a:off x="7084249"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DIAGNOSE</a:t>
            </a:r>
            <a:endParaRPr lang="en-US" sz="1100" dirty="0"/>
          </a:p>
        </p:txBody>
      </p:sp>
      <p:sp>
        <p:nvSpPr>
          <p:cNvPr id="43" name="Text 39"/>
          <p:cNvSpPr txBox="1"/>
          <p:nvPr/>
        </p:nvSpPr>
        <p:spPr>
          <a:xfrm>
            <a:off x="7084249"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Leaf photo → Gemini</a:t>
            </a:r>
            <a:endParaRPr lang="en-US" sz="850" dirty="0"/>
          </a:p>
        </p:txBody>
      </p:sp>
      <p:sp>
        <p:nvSpPr>
          <p:cNvPr id="44" name="Text 40"/>
          <p:cNvSpPr txBox="1"/>
          <p:nvPr/>
        </p:nvSpPr>
        <p:spPr>
          <a:xfrm>
            <a:off x="8375251"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45" name="Shape 41"/>
          <p:cNvSpPr/>
          <p:nvPr/>
        </p:nvSpPr>
        <p:spPr>
          <a:xfrm>
            <a:off x="8649571" y="1892808"/>
            <a:ext cx="1336722" cy="1389888"/>
          </a:xfrm>
          <a:prstGeom prst="roundRect">
            <a:avLst>
              <a:gd name="adj" fmla="val 6841"/>
            </a:avLst>
          </a:prstGeom>
          <a:solidFill>
            <a:srgbClr val="FFFDF7"/>
          </a:solidFill>
          <a:ln w="9525">
            <a:solidFill>
              <a:srgbClr val="DCD5C5"/>
            </a:solidFill>
            <a:prstDash val="solid"/>
          </a:ln>
        </p:spPr>
      </p:sp>
      <p:sp>
        <p:nvSpPr>
          <p:cNvPr id="46" name="Shape 42"/>
          <p:cNvSpPr/>
          <p:nvPr/>
        </p:nvSpPr>
        <p:spPr>
          <a:xfrm>
            <a:off x="8777587" y="2011680"/>
            <a:ext cx="393192" cy="393192"/>
          </a:xfrm>
          <a:prstGeom prst="ellipse">
            <a:avLst/>
          </a:prstGeom>
          <a:solidFill>
            <a:srgbClr val="12796D"/>
          </a:solidFill>
          <a:ln/>
        </p:spPr>
      </p:sp>
      <p:sp>
        <p:nvSpPr>
          <p:cNvPr id="47" name="Text 43"/>
          <p:cNvSpPr txBox="1"/>
          <p:nvPr/>
        </p:nvSpPr>
        <p:spPr>
          <a:xfrm>
            <a:off x="8777587"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48" name="Text 44"/>
          <p:cNvSpPr txBox="1"/>
          <p:nvPr/>
        </p:nvSpPr>
        <p:spPr>
          <a:xfrm>
            <a:off x="8695291"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LOCALISE</a:t>
            </a:r>
            <a:endParaRPr lang="en-US" sz="1100" dirty="0"/>
          </a:p>
        </p:txBody>
      </p:sp>
      <p:sp>
        <p:nvSpPr>
          <p:cNvPr id="49" name="Text 45"/>
          <p:cNvSpPr txBox="1"/>
          <p:nvPr/>
        </p:nvSpPr>
        <p:spPr>
          <a:xfrm>
            <a:off x="8695291"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en • hi • te • voice</a:t>
            </a:r>
            <a:endParaRPr lang="en-US" sz="850" dirty="0"/>
          </a:p>
        </p:txBody>
      </p:sp>
      <p:sp>
        <p:nvSpPr>
          <p:cNvPr id="50" name="Text 46"/>
          <p:cNvSpPr txBox="1"/>
          <p:nvPr/>
        </p:nvSpPr>
        <p:spPr>
          <a:xfrm>
            <a:off x="9986293"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51" name="Shape 47"/>
          <p:cNvSpPr/>
          <p:nvPr/>
        </p:nvSpPr>
        <p:spPr>
          <a:xfrm>
            <a:off x="10260613" y="1892808"/>
            <a:ext cx="1336722" cy="1389888"/>
          </a:xfrm>
          <a:prstGeom prst="roundRect">
            <a:avLst>
              <a:gd name="adj" fmla="val 6841"/>
            </a:avLst>
          </a:prstGeom>
          <a:solidFill>
            <a:srgbClr val="FFFDF7"/>
          </a:solidFill>
          <a:ln w="9525">
            <a:solidFill>
              <a:srgbClr val="DCD5C5"/>
            </a:solidFill>
            <a:prstDash val="solid"/>
          </a:ln>
        </p:spPr>
      </p:sp>
      <p:sp>
        <p:nvSpPr>
          <p:cNvPr id="52" name="Shape 48"/>
          <p:cNvSpPr/>
          <p:nvPr/>
        </p:nvSpPr>
        <p:spPr>
          <a:xfrm>
            <a:off x="10388629" y="2011680"/>
            <a:ext cx="393192" cy="393192"/>
          </a:xfrm>
          <a:prstGeom prst="ellipse">
            <a:avLst/>
          </a:prstGeom>
          <a:solidFill>
            <a:srgbClr val="E8694A"/>
          </a:solidFill>
          <a:ln/>
        </p:spPr>
      </p:sp>
      <p:sp>
        <p:nvSpPr>
          <p:cNvPr id="53" name="Text 49"/>
          <p:cNvSpPr txBox="1"/>
          <p:nvPr/>
        </p:nvSpPr>
        <p:spPr>
          <a:xfrm>
            <a:off x="10388629"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54" name="Text 50"/>
          <p:cNvSpPr txBox="1"/>
          <p:nvPr/>
        </p:nvSpPr>
        <p:spPr>
          <a:xfrm>
            <a:off x="10306333"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REVIEW</a:t>
            </a:r>
            <a:endParaRPr lang="en-US" sz="1100" dirty="0"/>
          </a:p>
        </p:txBody>
      </p:sp>
      <p:sp>
        <p:nvSpPr>
          <p:cNvPr id="55" name="Text 51"/>
          <p:cNvSpPr txBox="1"/>
          <p:nvPr/>
        </p:nvSpPr>
        <p:spPr>
          <a:xfrm>
            <a:off x="10306333"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Officer approves</a:t>
            </a:r>
            <a:endParaRPr lang="en-US" sz="850" dirty="0"/>
          </a:p>
        </p:txBody>
      </p:sp>
      <p:sp>
        <p:nvSpPr>
          <p:cNvPr id="56" name="Shape 52"/>
          <p:cNvSpPr/>
          <p:nvPr/>
        </p:nvSpPr>
        <p:spPr>
          <a:xfrm>
            <a:off x="640080" y="3886200"/>
            <a:ext cx="3429000" cy="1417320"/>
          </a:xfrm>
          <a:prstGeom prst="roundRect">
            <a:avLst>
              <a:gd name="adj" fmla="val 5161"/>
            </a:avLst>
          </a:prstGeom>
          <a:solidFill>
            <a:srgbClr val="1B3149"/>
          </a:solidFill>
          <a:ln/>
        </p:spPr>
      </p:sp>
      <p:sp>
        <p:nvSpPr>
          <p:cNvPr id="57" name="Shape 53"/>
          <p:cNvSpPr/>
          <p:nvPr/>
        </p:nvSpPr>
        <p:spPr>
          <a:xfrm>
            <a:off x="868680" y="4114800"/>
            <a:ext cx="1417320" cy="310896"/>
          </a:xfrm>
          <a:prstGeom prst="roundRect">
            <a:avLst>
              <a:gd name="adj" fmla="val 23529"/>
            </a:avLst>
          </a:prstGeom>
          <a:solidFill>
            <a:srgbClr val="2A4A63"/>
          </a:solidFill>
          <a:ln/>
        </p:spPr>
      </p:sp>
      <p:sp>
        <p:nvSpPr>
          <p:cNvPr id="58" name="Text 54"/>
          <p:cNvSpPr txBox="1"/>
          <p:nvPr/>
        </p:nvSpPr>
        <p:spPr>
          <a:xfrm>
            <a:off x="86868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B9C4CF"/>
                </a:solidFill>
                <a:latin typeface="Arial" pitchFamily="34" charset="0"/>
                <a:ea typeface="Arial" pitchFamily="34" charset="-122"/>
                <a:cs typeface="Arial" pitchFamily="34" charset="-120"/>
              </a:rPr>
              <a:t>TIER 0 • RULES</a:t>
            </a:r>
            <a:endParaRPr lang="en-US" sz="700" dirty="0"/>
          </a:p>
        </p:txBody>
      </p:sp>
      <p:sp>
        <p:nvSpPr>
          <p:cNvPr id="59" name="Text 55"/>
          <p:cNvSpPr txBox="1"/>
          <p:nvPr/>
        </p:nvSpPr>
        <p:spPr>
          <a:xfrm>
            <a:off x="86868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Farm Health and crop scores are transparent rules. Missing factors are re-weighted, never imputed.</a:t>
            </a:r>
            <a:endParaRPr lang="en-US" sz="1100" dirty="0"/>
          </a:p>
        </p:txBody>
      </p:sp>
      <p:sp>
        <p:nvSpPr>
          <p:cNvPr id="60" name="Shape 56"/>
          <p:cNvSpPr/>
          <p:nvPr/>
        </p:nvSpPr>
        <p:spPr>
          <a:xfrm>
            <a:off x="4343400" y="3886200"/>
            <a:ext cx="3429000" cy="1417320"/>
          </a:xfrm>
          <a:prstGeom prst="roundRect">
            <a:avLst>
              <a:gd name="adj" fmla="val 5161"/>
            </a:avLst>
          </a:prstGeom>
          <a:solidFill>
            <a:srgbClr val="DCEEE8"/>
          </a:solidFill>
          <a:ln w="9525">
            <a:solidFill>
              <a:srgbClr val="12796D"/>
            </a:solidFill>
            <a:prstDash val="solid"/>
          </a:ln>
        </p:spPr>
      </p:sp>
      <p:sp>
        <p:nvSpPr>
          <p:cNvPr id="61" name="Shape 57"/>
          <p:cNvSpPr/>
          <p:nvPr/>
        </p:nvSpPr>
        <p:spPr>
          <a:xfrm>
            <a:off x="4572000" y="4114800"/>
            <a:ext cx="1417320" cy="310896"/>
          </a:xfrm>
          <a:prstGeom prst="roundRect">
            <a:avLst>
              <a:gd name="adj" fmla="val 23529"/>
            </a:avLst>
          </a:prstGeom>
          <a:solidFill>
            <a:srgbClr val="12796D"/>
          </a:solidFill>
          <a:ln/>
        </p:spPr>
      </p:sp>
      <p:sp>
        <p:nvSpPr>
          <p:cNvPr id="62" name="Text 58"/>
          <p:cNvSpPr txBox="1"/>
          <p:nvPr/>
        </p:nvSpPr>
        <p:spPr>
          <a:xfrm>
            <a:off x="457200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TIER 1 • BOUNDED AI</a:t>
            </a:r>
            <a:endParaRPr lang="en-US" sz="700" dirty="0"/>
          </a:p>
        </p:txBody>
      </p:sp>
      <p:sp>
        <p:nvSpPr>
          <p:cNvPr id="63" name="Text 59"/>
          <p:cNvSpPr txBox="1"/>
          <p:nvPr/>
        </p:nvSpPr>
        <p:spPr>
          <a:xfrm>
            <a:off x="457200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Gemini advisory, crop reasons and Crop Doctor; each record stores model and prompt version.</a:t>
            </a:r>
            <a:endParaRPr lang="en-US" sz="1100" dirty="0"/>
          </a:p>
        </p:txBody>
      </p:sp>
      <p:sp>
        <p:nvSpPr>
          <p:cNvPr id="64" name="Shape 60"/>
          <p:cNvSpPr/>
          <p:nvPr/>
        </p:nvSpPr>
        <p:spPr>
          <a:xfrm>
            <a:off x="8046720" y="3886200"/>
            <a:ext cx="3429000" cy="1417320"/>
          </a:xfrm>
          <a:prstGeom prst="roundRect">
            <a:avLst>
              <a:gd name="adj" fmla="val 5161"/>
            </a:avLst>
          </a:prstGeom>
          <a:solidFill>
            <a:srgbClr val="FBE6DE"/>
          </a:solidFill>
          <a:ln w="9525">
            <a:solidFill>
              <a:srgbClr val="E8694A"/>
            </a:solidFill>
            <a:prstDash val="solid"/>
          </a:ln>
        </p:spPr>
      </p:sp>
      <p:sp>
        <p:nvSpPr>
          <p:cNvPr id="65" name="Shape 61"/>
          <p:cNvSpPr/>
          <p:nvPr/>
        </p:nvSpPr>
        <p:spPr>
          <a:xfrm>
            <a:off x="8275320" y="4114800"/>
            <a:ext cx="1417320" cy="310896"/>
          </a:xfrm>
          <a:prstGeom prst="roundRect">
            <a:avLst>
              <a:gd name="adj" fmla="val 23529"/>
            </a:avLst>
          </a:prstGeom>
          <a:solidFill>
            <a:srgbClr val="E8694A"/>
          </a:solidFill>
          <a:ln/>
        </p:spPr>
      </p:sp>
      <p:sp>
        <p:nvSpPr>
          <p:cNvPr id="66" name="Text 62"/>
          <p:cNvSpPr txBox="1"/>
          <p:nvPr/>
        </p:nvSpPr>
        <p:spPr>
          <a:xfrm>
            <a:off x="827532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TIER 2 • HUMAN</a:t>
            </a:r>
            <a:endParaRPr lang="en-US" sz="700" dirty="0"/>
          </a:p>
        </p:txBody>
      </p:sp>
      <p:sp>
        <p:nvSpPr>
          <p:cNvPr id="67" name="Text 63"/>
          <p:cNvSpPr txBox="1"/>
          <p:nvPr/>
        </p:nvSpPr>
        <p:spPr>
          <a:xfrm>
            <a:off x="827532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Officer approves or rejects. Low-confidence or severe Crop Doctor results go to expert review.</a:t>
            </a:r>
            <a:endParaRPr lang="en-US" sz="1100" dirty="0"/>
          </a:p>
        </p:txBody>
      </p:sp>
      <p:sp>
        <p:nvSpPr>
          <p:cNvPr id="68" name="Text 64"/>
          <p:cNvSpPr txBox="1"/>
          <p:nvPr/>
        </p:nvSpPr>
        <p:spPr>
          <a:xfrm>
            <a:off x="658368" y="5760720"/>
            <a:ext cx="1828800" cy="182880"/>
          </a:xfrm>
          <a:prstGeom prst="rect">
            <a:avLst/>
          </a:prstGeom>
          <a:noFill/>
          <a:ln/>
        </p:spPr>
        <p:txBody>
          <a:bodyPr wrap="square" lIns="0" tIns="0" rIns="0" bIns="0" rtlCol="0" anchor="t"/>
          <a:lstStyle/>
          <a:p>
            <a:pPr indent="0" marL="0">
              <a:buNone/>
            </a:pPr>
            <a:r>
              <a:rPr lang="en-US" sz="800" b="1" spc="100" kern="0" dirty="0">
                <a:solidFill>
                  <a:srgbClr val="12796D"/>
                </a:solidFill>
                <a:latin typeface="Arial" pitchFamily="34" charset="0"/>
                <a:ea typeface="Arial" pitchFamily="34" charset="-122"/>
                <a:cs typeface="Arial" pitchFamily="34" charset="-120"/>
              </a:rPr>
              <a:t>DESIGN RULE</a:t>
            </a:r>
            <a:endParaRPr lang="en-US" sz="800" dirty="0"/>
          </a:p>
        </p:txBody>
      </p:sp>
      <p:sp>
        <p:nvSpPr>
          <p:cNvPr id="69" name="Text 65"/>
          <p:cNvSpPr txBox="1"/>
          <p:nvPr/>
        </p:nvSpPr>
        <p:spPr>
          <a:xfrm>
            <a:off x="2560320" y="5705856"/>
            <a:ext cx="8961120" cy="32004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The farmer sees AI output labelled as a draft awaiting review; nothing is auto-approved.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04 — USERS &amp; CONTEXT</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Design for Lakshmi first; connect the officer above her.</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Exactly two app roles (PRD §7): Farmer and Agriculture Officer. KVKs and states connect through data.</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Personas are sample records from the AP/MH/PB adapters. Screenshot: Crop Doctor on the synthetic sample leaf, live Gemini + Google Maps.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5</a:t>
            </a:r>
            <a:endParaRPr lang="en-US" sz="650" dirty="0"/>
          </a:p>
        </p:txBody>
      </p:sp>
      <p:pic>
        <p:nvPicPr>
          <p:cNvPr id="15" name="Image 1" descr="/Users/pavan/Documents/Code/Build_with_AI/agri-ai-network/docs/pitch/assets/farmer-crop-doctor.png">    </p:cNvPr>
          <p:cNvPicPr>
            <a:picLocks noChangeAspect="1"/>
          </p:cNvPicPr>
          <p:nvPr/>
        </p:nvPicPr>
        <p:blipFill>
          <a:blip r:embed="rId2"/>
          <a:srcRect l="0" r="0" t="0" b="0"/>
          <a:stretch/>
        </p:blipFill>
        <p:spPr>
          <a:xfrm>
            <a:off x="621792" y="1709928"/>
            <a:ext cx="4599432" cy="3017520"/>
          </a:xfrm>
          <a:prstGeom prst="rect">
            <a:avLst/>
          </a:prstGeom>
        </p:spPr>
      </p:pic>
      <p:sp>
        <p:nvSpPr>
          <p:cNvPr id="16" name="Shape 11"/>
          <p:cNvSpPr/>
          <p:nvPr/>
        </p:nvSpPr>
        <p:spPr>
          <a:xfrm>
            <a:off x="621792" y="4727448"/>
            <a:ext cx="4599432" cy="1243584"/>
          </a:xfrm>
          <a:prstGeom prst="rect">
            <a:avLst/>
          </a:prstGeom>
          <a:solidFill>
            <a:srgbClr val="1B3149"/>
          </a:solidFill>
          <a:ln/>
        </p:spPr>
      </p:sp>
      <p:sp>
        <p:nvSpPr>
          <p:cNvPr id="17" name="Text 12"/>
          <p:cNvSpPr txBox="1"/>
          <p:nvPr/>
        </p:nvSpPr>
        <p:spPr>
          <a:xfrm>
            <a:off x="896112" y="5020056"/>
            <a:ext cx="4050792" cy="182880"/>
          </a:xfrm>
          <a:prstGeom prst="rect">
            <a:avLst/>
          </a:prstGeom>
          <a:noFill/>
          <a:ln/>
        </p:spPr>
        <p:txBody>
          <a:bodyPr wrap="square" lIns="0" tIns="0" rIns="0" bIns="0" rtlCol="0" anchor="t"/>
          <a:lstStyle/>
          <a:p>
            <a:pPr indent="0" marL="0">
              <a:buNone/>
            </a:pPr>
            <a:r>
              <a:rPr lang="en-US" sz="1000" b="1" spc="100" kern="0" dirty="0">
                <a:solidFill>
                  <a:srgbClr val="9ED8CC"/>
                </a:solidFill>
                <a:latin typeface="Arial" pitchFamily="34" charset="0"/>
                <a:ea typeface="Arial" pitchFamily="34" charset="-122"/>
                <a:cs typeface="Arial" pitchFamily="34" charset="-120"/>
              </a:rPr>
              <a:t>LAKSHMI DEVI  •  PRIMARY USER (SAMPLE)</a:t>
            </a:r>
            <a:endParaRPr lang="en-US" sz="1000" dirty="0"/>
          </a:p>
        </p:txBody>
      </p:sp>
      <p:sp>
        <p:nvSpPr>
          <p:cNvPr id="18" name="Text 13"/>
          <p:cNvSpPr txBox="1"/>
          <p:nvPr/>
        </p:nvSpPr>
        <p:spPr>
          <a:xfrm>
            <a:off x="896112" y="5321808"/>
            <a:ext cx="4050792" cy="457200"/>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2.4 acres • rainfed groundnut • Anantapur, Andhra Pradesh</a:t>
            </a:r>
            <a:endParaRPr lang="en-US" sz="1600" dirty="0"/>
          </a:p>
        </p:txBody>
      </p:sp>
      <p:sp>
        <p:nvSpPr>
          <p:cNvPr id="19" name="Shape 14"/>
          <p:cNvSpPr/>
          <p:nvPr/>
        </p:nvSpPr>
        <p:spPr>
          <a:xfrm>
            <a:off x="5550408" y="1719072"/>
            <a:ext cx="5961888" cy="795528"/>
          </a:xfrm>
          <a:prstGeom prst="roundRect">
            <a:avLst>
              <a:gd name="adj" fmla="val 11494"/>
            </a:avLst>
          </a:prstGeom>
          <a:solidFill>
            <a:srgbClr val="FFFDF7"/>
          </a:solidFill>
          <a:ln w="9525">
            <a:solidFill>
              <a:srgbClr val="DCD5C5"/>
            </a:solidFill>
            <a:prstDash val="solid"/>
          </a:ln>
        </p:spPr>
      </p:sp>
      <p:sp>
        <p:nvSpPr>
          <p:cNvPr id="20" name="Shape 15"/>
          <p:cNvSpPr/>
          <p:nvPr/>
        </p:nvSpPr>
        <p:spPr>
          <a:xfrm>
            <a:off x="5742432" y="1911096"/>
            <a:ext cx="393192" cy="393192"/>
          </a:xfrm>
          <a:prstGeom prst="ellipse">
            <a:avLst/>
          </a:prstGeom>
          <a:solidFill>
            <a:srgbClr val="12796D"/>
          </a:solidFill>
          <a:ln/>
        </p:spPr>
      </p:sp>
      <p:sp>
        <p:nvSpPr>
          <p:cNvPr id="21" name="Text 16"/>
          <p:cNvSpPr txBox="1"/>
          <p:nvPr/>
        </p:nvSpPr>
        <p:spPr>
          <a:xfrm>
            <a:off x="5742432" y="191109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22" name="Text 17"/>
          <p:cNvSpPr txBox="1"/>
          <p:nvPr/>
        </p:nvSpPr>
        <p:spPr>
          <a:xfrm>
            <a:off x="6263640" y="1874520"/>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FARMER</a:t>
            </a:r>
            <a:endParaRPr lang="en-US" sz="1100" dirty="0"/>
          </a:p>
        </p:txBody>
      </p:sp>
      <p:sp>
        <p:nvSpPr>
          <p:cNvPr id="23" name="Text 18"/>
          <p:cNvSpPr txBox="1"/>
          <p:nvPr/>
        </p:nvSpPr>
        <p:spPr>
          <a:xfrm>
            <a:off x="6263640" y="2148840"/>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Primary user</a:t>
            </a:r>
            <a:endParaRPr lang="en-US" sz="850" dirty="0"/>
          </a:p>
        </p:txBody>
      </p:sp>
      <p:sp>
        <p:nvSpPr>
          <p:cNvPr id="24" name="Text 19"/>
          <p:cNvSpPr txBox="1"/>
          <p:nvPr/>
        </p:nvSpPr>
        <p:spPr>
          <a:xfrm>
            <a:off x="7818120" y="1874520"/>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Needs one clear next action in Telugu, by voice, with sources shown.</a:t>
            </a:r>
            <a:endParaRPr lang="en-US" sz="1000" dirty="0"/>
          </a:p>
        </p:txBody>
      </p:sp>
      <p:sp>
        <p:nvSpPr>
          <p:cNvPr id="25" name="Shape 20"/>
          <p:cNvSpPr/>
          <p:nvPr/>
        </p:nvSpPr>
        <p:spPr>
          <a:xfrm>
            <a:off x="5550408" y="2688336"/>
            <a:ext cx="5961888" cy="795528"/>
          </a:xfrm>
          <a:prstGeom prst="roundRect">
            <a:avLst>
              <a:gd name="adj" fmla="val 11494"/>
            </a:avLst>
          </a:prstGeom>
          <a:solidFill>
            <a:srgbClr val="DCEEE8"/>
          </a:solidFill>
          <a:ln w="9525">
            <a:solidFill>
              <a:srgbClr val="12796D"/>
            </a:solidFill>
            <a:prstDash val="solid"/>
          </a:ln>
        </p:spPr>
      </p:sp>
      <p:sp>
        <p:nvSpPr>
          <p:cNvPr id="26" name="Shape 21"/>
          <p:cNvSpPr/>
          <p:nvPr/>
        </p:nvSpPr>
        <p:spPr>
          <a:xfrm>
            <a:off x="5742432" y="2880360"/>
            <a:ext cx="393192" cy="393192"/>
          </a:xfrm>
          <a:prstGeom prst="ellipse">
            <a:avLst/>
          </a:prstGeom>
          <a:solidFill>
            <a:srgbClr val="12796D"/>
          </a:solidFill>
          <a:ln/>
        </p:spPr>
      </p:sp>
      <p:sp>
        <p:nvSpPr>
          <p:cNvPr id="27" name="Text 22"/>
          <p:cNvSpPr txBox="1"/>
          <p:nvPr/>
        </p:nvSpPr>
        <p:spPr>
          <a:xfrm>
            <a:off x="5742432" y="288036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8" name="Text 23"/>
          <p:cNvSpPr txBox="1"/>
          <p:nvPr/>
        </p:nvSpPr>
        <p:spPr>
          <a:xfrm>
            <a:off x="6263640" y="2843784"/>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AGRI OFFICER</a:t>
            </a:r>
            <a:endParaRPr lang="en-US" sz="1100" dirty="0"/>
          </a:p>
        </p:txBody>
      </p:sp>
      <p:sp>
        <p:nvSpPr>
          <p:cNvPr id="29" name="Text 24"/>
          <p:cNvSpPr txBox="1"/>
          <p:nvPr/>
        </p:nvSpPr>
        <p:spPr>
          <a:xfrm>
            <a:off x="6263640" y="3118104"/>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District view</a:t>
            </a:r>
            <a:endParaRPr lang="en-US" sz="850" dirty="0"/>
          </a:p>
        </p:txBody>
      </p:sp>
      <p:sp>
        <p:nvSpPr>
          <p:cNvPr id="30" name="Text 25"/>
          <p:cNvSpPr txBox="1"/>
          <p:nvPr/>
        </p:nvSpPr>
        <p:spPr>
          <a:xfrm>
            <a:off x="7818120" y="2843784"/>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Needs district and block risk, hotspots and a review queue, not raw feeds.</a:t>
            </a:r>
            <a:endParaRPr lang="en-US" sz="1000" dirty="0"/>
          </a:p>
        </p:txBody>
      </p:sp>
      <p:sp>
        <p:nvSpPr>
          <p:cNvPr id="31" name="Shape 26"/>
          <p:cNvSpPr/>
          <p:nvPr/>
        </p:nvSpPr>
        <p:spPr>
          <a:xfrm>
            <a:off x="5550408" y="3657600"/>
            <a:ext cx="5961888" cy="795528"/>
          </a:xfrm>
          <a:prstGeom prst="roundRect">
            <a:avLst>
              <a:gd name="adj" fmla="val 11494"/>
            </a:avLst>
          </a:prstGeom>
          <a:solidFill>
            <a:srgbClr val="FFFDF7"/>
          </a:solidFill>
          <a:ln w="9525">
            <a:solidFill>
              <a:srgbClr val="DCD5C5"/>
            </a:solidFill>
            <a:prstDash val="solid"/>
          </a:ln>
        </p:spPr>
      </p:sp>
      <p:sp>
        <p:nvSpPr>
          <p:cNvPr id="32" name="Shape 27"/>
          <p:cNvSpPr/>
          <p:nvPr/>
        </p:nvSpPr>
        <p:spPr>
          <a:xfrm>
            <a:off x="5742432" y="3849624"/>
            <a:ext cx="393192" cy="393192"/>
          </a:xfrm>
          <a:prstGeom prst="ellipse">
            <a:avLst/>
          </a:prstGeom>
          <a:solidFill>
            <a:srgbClr val="12796D"/>
          </a:solidFill>
          <a:ln/>
        </p:spPr>
      </p:sp>
      <p:sp>
        <p:nvSpPr>
          <p:cNvPr id="33" name="Text 28"/>
          <p:cNvSpPr txBox="1"/>
          <p:nvPr/>
        </p:nvSpPr>
        <p:spPr>
          <a:xfrm>
            <a:off x="5742432" y="384962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34" name="Text 29"/>
          <p:cNvSpPr txBox="1"/>
          <p:nvPr/>
        </p:nvSpPr>
        <p:spPr>
          <a:xfrm>
            <a:off x="6263640" y="3813048"/>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KVK</a:t>
            </a:r>
            <a:endParaRPr lang="en-US" sz="1100" dirty="0"/>
          </a:p>
        </p:txBody>
      </p:sp>
      <p:sp>
        <p:nvSpPr>
          <p:cNvPr id="35" name="Text 30"/>
          <p:cNvSpPr txBox="1"/>
          <p:nvPr/>
        </p:nvSpPr>
        <p:spPr>
          <a:xfrm>
            <a:off x="6263640" y="4087368"/>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Expert referral</a:t>
            </a:r>
            <a:endParaRPr lang="en-US" sz="850" dirty="0"/>
          </a:p>
        </p:txBody>
      </p:sp>
      <p:sp>
        <p:nvSpPr>
          <p:cNvPr id="36" name="Text 31"/>
          <p:cNvSpPr txBox="1"/>
          <p:nvPr/>
        </p:nvSpPr>
        <p:spPr>
          <a:xfrm>
            <a:off x="7818120" y="3813048"/>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Confirms Crop Doctor cases; Maps shows the nearest office and drive time.</a:t>
            </a:r>
            <a:endParaRPr lang="en-US" sz="1000" dirty="0"/>
          </a:p>
        </p:txBody>
      </p:sp>
      <p:sp>
        <p:nvSpPr>
          <p:cNvPr id="37" name="Shape 32"/>
          <p:cNvSpPr/>
          <p:nvPr/>
        </p:nvSpPr>
        <p:spPr>
          <a:xfrm>
            <a:off x="5550408" y="4626864"/>
            <a:ext cx="5961888" cy="795528"/>
          </a:xfrm>
          <a:prstGeom prst="roundRect">
            <a:avLst>
              <a:gd name="adj" fmla="val 11494"/>
            </a:avLst>
          </a:prstGeom>
          <a:solidFill>
            <a:srgbClr val="FFFDF7"/>
          </a:solidFill>
          <a:ln w="9525">
            <a:solidFill>
              <a:srgbClr val="DCD5C5"/>
            </a:solidFill>
            <a:prstDash val="solid"/>
          </a:ln>
        </p:spPr>
      </p:sp>
      <p:sp>
        <p:nvSpPr>
          <p:cNvPr id="38" name="Shape 33"/>
          <p:cNvSpPr/>
          <p:nvPr/>
        </p:nvSpPr>
        <p:spPr>
          <a:xfrm>
            <a:off x="5742432" y="4818888"/>
            <a:ext cx="393192" cy="393192"/>
          </a:xfrm>
          <a:prstGeom prst="ellipse">
            <a:avLst/>
          </a:prstGeom>
          <a:solidFill>
            <a:srgbClr val="E8694A"/>
          </a:solidFill>
          <a:ln/>
        </p:spPr>
      </p:sp>
      <p:sp>
        <p:nvSpPr>
          <p:cNvPr id="39" name="Text 34"/>
          <p:cNvSpPr txBox="1"/>
          <p:nvPr/>
        </p:nvSpPr>
        <p:spPr>
          <a:xfrm>
            <a:off x="5742432" y="4818888"/>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40" name="Text 35"/>
          <p:cNvSpPr txBox="1"/>
          <p:nvPr/>
        </p:nvSpPr>
        <p:spPr>
          <a:xfrm>
            <a:off x="6263640" y="4782312"/>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STATE DEPT.</a:t>
            </a:r>
            <a:endParaRPr lang="en-US" sz="1100" dirty="0"/>
          </a:p>
        </p:txBody>
      </p:sp>
      <p:sp>
        <p:nvSpPr>
          <p:cNvPr id="41" name="Text 36"/>
          <p:cNvSpPr txBox="1"/>
          <p:nvPr/>
        </p:nvSpPr>
        <p:spPr>
          <a:xfrm>
            <a:off x="6263640" y="5056632"/>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Data owner</a:t>
            </a:r>
            <a:endParaRPr lang="en-US" sz="850" dirty="0"/>
          </a:p>
        </p:txBody>
      </p:sp>
      <p:sp>
        <p:nvSpPr>
          <p:cNvPr id="42" name="Text 37"/>
          <p:cNvSpPr txBox="1"/>
          <p:nvPr/>
        </p:nvSpPr>
        <p:spPr>
          <a:xfrm>
            <a:off x="7818120" y="4782312"/>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Keeps its own records; joins through a declarative adapter, not a rebuild.</a:t>
            </a:r>
            <a:endParaRPr lang="en-US" sz="1000" dirty="0"/>
          </a:p>
        </p:txBody>
      </p:sp>
      <p:sp>
        <p:nvSpPr>
          <p:cNvPr id="43" name="Text 38"/>
          <p:cNvSpPr txBox="1"/>
          <p:nvPr/>
        </p:nvSpPr>
        <p:spPr>
          <a:xfrm>
            <a:off x="5577840" y="559612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CONSTRAINT → DESIGN RESPONSE</a:t>
            </a:r>
            <a:endParaRPr lang="en-US" sz="800" dirty="0"/>
          </a:p>
        </p:txBody>
      </p:sp>
      <p:sp>
        <p:nvSpPr>
          <p:cNvPr id="44" name="Shape 39"/>
          <p:cNvSpPr/>
          <p:nvPr/>
        </p:nvSpPr>
        <p:spPr>
          <a:xfrm>
            <a:off x="5577840" y="5824728"/>
            <a:ext cx="1783080" cy="347472"/>
          </a:xfrm>
          <a:prstGeom prst="roundRect">
            <a:avLst>
              <a:gd name="adj" fmla="val 21053"/>
            </a:avLst>
          </a:prstGeom>
          <a:solidFill>
            <a:srgbClr val="FFFDF7"/>
          </a:solidFill>
          <a:ln w="9525">
            <a:solidFill>
              <a:srgbClr val="DCD5C5"/>
            </a:solidFill>
            <a:prstDash val="solid"/>
          </a:ln>
        </p:spPr>
      </p:sp>
      <p:sp>
        <p:nvSpPr>
          <p:cNvPr id="45" name="Text 40"/>
          <p:cNvSpPr txBox="1"/>
          <p:nvPr/>
        </p:nvSpPr>
        <p:spPr>
          <a:xfrm>
            <a:off x="565099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LITERACY</a:t>
            </a:r>
            <a:endParaRPr lang="en-US" sz="650" dirty="0"/>
          </a:p>
        </p:txBody>
      </p:sp>
      <p:sp>
        <p:nvSpPr>
          <p:cNvPr id="46" name="Text 41"/>
          <p:cNvSpPr txBox="1"/>
          <p:nvPr/>
        </p:nvSpPr>
        <p:spPr>
          <a:xfrm>
            <a:off x="632764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voice • 3 languages</a:t>
            </a:r>
            <a:endParaRPr lang="en-US" sz="750" dirty="0"/>
          </a:p>
        </p:txBody>
      </p:sp>
      <p:sp>
        <p:nvSpPr>
          <p:cNvPr id="47" name="Shape 42"/>
          <p:cNvSpPr/>
          <p:nvPr/>
        </p:nvSpPr>
        <p:spPr>
          <a:xfrm>
            <a:off x="7498080" y="5824728"/>
            <a:ext cx="1783080" cy="347472"/>
          </a:xfrm>
          <a:prstGeom prst="roundRect">
            <a:avLst>
              <a:gd name="adj" fmla="val 21053"/>
            </a:avLst>
          </a:prstGeom>
          <a:solidFill>
            <a:srgbClr val="FFFDF7"/>
          </a:solidFill>
          <a:ln w="9525">
            <a:solidFill>
              <a:srgbClr val="DCD5C5"/>
            </a:solidFill>
            <a:prstDash val="solid"/>
          </a:ln>
        </p:spPr>
      </p:sp>
      <p:sp>
        <p:nvSpPr>
          <p:cNvPr id="48" name="Text 43"/>
          <p:cNvSpPr txBox="1"/>
          <p:nvPr/>
        </p:nvSpPr>
        <p:spPr>
          <a:xfrm>
            <a:off x="757123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DATA GAPS</a:t>
            </a:r>
            <a:endParaRPr lang="en-US" sz="650" dirty="0"/>
          </a:p>
        </p:txBody>
      </p:sp>
      <p:sp>
        <p:nvSpPr>
          <p:cNvPr id="49" name="Text 44"/>
          <p:cNvSpPr txBox="1"/>
          <p:nvPr/>
        </p:nvSpPr>
        <p:spPr>
          <a:xfrm>
            <a:off x="824788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source + age badges</a:t>
            </a:r>
            <a:endParaRPr lang="en-US" sz="750" dirty="0"/>
          </a:p>
        </p:txBody>
      </p:sp>
      <p:sp>
        <p:nvSpPr>
          <p:cNvPr id="50" name="Shape 45"/>
          <p:cNvSpPr/>
          <p:nvPr/>
        </p:nvSpPr>
        <p:spPr>
          <a:xfrm>
            <a:off x="9418320" y="5824728"/>
            <a:ext cx="1783080" cy="347472"/>
          </a:xfrm>
          <a:prstGeom prst="roundRect">
            <a:avLst>
              <a:gd name="adj" fmla="val 21053"/>
            </a:avLst>
          </a:prstGeom>
          <a:solidFill>
            <a:srgbClr val="FFFDF7"/>
          </a:solidFill>
          <a:ln w="9525">
            <a:solidFill>
              <a:srgbClr val="DCD5C5"/>
            </a:solidFill>
            <a:prstDash val="solid"/>
          </a:ln>
        </p:spPr>
      </p:sp>
      <p:sp>
        <p:nvSpPr>
          <p:cNvPr id="51" name="Text 46"/>
          <p:cNvSpPr txBox="1"/>
          <p:nvPr/>
        </p:nvSpPr>
        <p:spPr>
          <a:xfrm>
            <a:off x="949147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AI ERROR</a:t>
            </a:r>
            <a:endParaRPr lang="en-US" sz="650" dirty="0"/>
          </a:p>
        </p:txBody>
      </p:sp>
      <p:sp>
        <p:nvSpPr>
          <p:cNvPr id="52" name="Text 47"/>
          <p:cNvSpPr txBox="1"/>
          <p:nvPr/>
        </p:nvSpPr>
        <p:spPr>
          <a:xfrm>
            <a:off x="1016812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officer + KVK check</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05 — JOURNEY</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Lakshmi's field, end to end, in one continuous demo.</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PRD §43 Scenario A: Andhra Pradesh • Anantapur • groundnut • 2.4 acres. Sample farmer, live data feeds.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Values from the running prototype on 30 Sep 2026; live weather and NDVI change daily. District indicators are labelled synthetic samples.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6</a:t>
            </a:r>
            <a:endParaRPr lang="en-US" sz="650" dirty="0"/>
          </a:p>
        </p:txBody>
      </p:sp>
      <p:sp>
        <p:nvSpPr>
          <p:cNvPr id="15" name="Shape 11"/>
          <p:cNvSpPr/>
          <p:nvPr/>
        </p:nvSpPr>
        <p:spPr>
          <a:xfrm>
            <a:off x="621792" y="1755648"/>
            <a:ext cx="2496312" cy="1417320"/>
          </a:xfrm>
          <a:prstGeom prst="roundRect">
            <a:avLst>
              <a:gd name="adj" fmla="val 6452"/>
            </a:avLst>
          </a:prstGeom>
          <a:solidFill>
            <a:srgbClr val="FFFDF7"/>
          </a:solidFill>
          <a:ln w="9525">
            <a:solidFill>
              <a:srgbClr val="DCD5C5"/>
            </a:solidFill>
            <a:prstDash val="solid"/>
          </a:ln>
        </p:spPr>
      </p:sp>
      <p:sp>
        <p:nvSpPr>
          <p:cNvPr id="16" name="Text 12"/>
          <p:cNvSpPr txBox="1"/>
          <p:nvPr/>
        </p:nvSpPr>
        <p:spPr>
          <a:xfrm>
            <a:off x="777240"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SENSE</a:t>
            </a:r>
            <a:endParaRPr lang="en-US" sz="750" dirty="0"/>
          </a:p>
        </p:txBody>
      </p:sp>
      <p:sp>
        <p:nvSpPr>
          <p:cNvPr id="17" name="Text 13"/>
          <p:cNvSpPr txBox="1"/>
          <p:nvPr/>
        </p:nvSpPr>
        <p:spPr>
          <a:xfrm>
            <a:off x="777240"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Farm Health 73 / 100</a:t>
            </a:r>
            <a:endParaRPr lang="en-US" sz="1250" dirty="0"/>
          </a:p>
        </p:txBody>
      </p:sp>
      <p:sp>
        <p:nvSpPr>
          <p:cNvPr id="18" name="Text 14"/>
          <p:cNvSpPr txBox="1"/>
          <p:nvPr/>
        </p:nvSpPr>
        <p:spPr>
          <a:xfrm>
            <a:off x="777240"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Vegetation 51 • soil 70 • weather 100 • water 96 • crop 55</a:t>
            </a:r>
            <a:endParaRPr lang="en-US" sz="950" dirty="0"/>
          </a:p>
        </p:txBody>
      </p:sp>
      <p:sp>
        <p:nvSpPr>
          <p:cNvPr id="19" name="Text 15"/>
          <p:cNvSpPr txBox="1"/>
          <p:nvPr/>
        </p:nvSpPr>
        <p:spPr>
          <a:xfrm>
            <a:off x="3118104"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0" name="Shape 16"/>
          <p:cNvSpPr/>
          <p:nvPr/>
        </p:nvSpPr>
        <p:spPr>
          <a:xfrm>
            <a:off x="3392424" y="1755648"/>
            <a:ext cx="2496312" cy="1417320"/>
          </a:xfrm>
          <a:prstGeom prst="roundRect">
            <a:avLst>
              <a:gd name="adj" fmla="val 6452"/>
            </a:avLst>
          </a:prstGeom>
          <a:solidFill>
            <a:srgbClr val="FFFDF7"/>
          </a:solidFill>
          <a:ln w="9525">
            <a:solidFill>
              <a:srgbClr val="DCD5C5"/>
            </a:solidFill>
            <a:prstDash val="solid"/>
          </a:ln>
        </p:spPr>
      </p:sp>
      <p:sp>
        <p:nvSpPr>
          <p:cNvPr id="21" name="Text 17"/>
          <p:cNvSpPr txBox="1"/>
          <p:nvPr/>
        </p:nvSpPr>
        <p:spPr>
          <a:xfrm>
            <a:off x="3547872"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ADVISE</a:t>
            </a:r>
            <a:endParaRPr lang="en-US" sz="750" dirty="0"/>
          </a:p>
        </p:txBody>
      </p:sp>
      <p:sp>
        <p:nvSpPr>
          <p:cNvPr id="22" name="Text 18"/>
          <p:cNvSpPr txBox="1"/>
          <p:nvPr/>
        </p:nvSpPr>
        <p:spPr>
          <a:xfrm>
            <a:off x="3547872"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Risk high, next 48 h</a:t>
            </a:r>
            <a:endParaRPr lang="en-US" sz="1250" dirty="0"/>
          </a:p>
        </p:txBody>
      </p:sp>
      <p:sp>
        <p:nvSpPr>
          <p:cNvPr id="23" name="Text 19"/>
          <p:cNvSpPr txBox="1"/>
          <p:nvPr/>
        </p:nvSpPr>
        <p:spPr>
          <a:xfrm>
            <a:off x="3547872"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Scout for leaf spot; low organic carbon 0.38%, N 176 kg/ha</a:t>
            </a:r>
            <a:endParaRPr lang="en-US" sz="950" dirty="0"/>
          </a:p>
        </p:txBody>
      </p:sp>
      <p:sp>
        <p:nvSpPr>
          <p:cNvPr id="24" name="Text 20"/>
          <p:cNvSpPr txBox="1"/>
          <p:nvPr/>
        </p:nvSpPr>
        <p:spPr>
          <a:xfrm>
            <a:off x="5888736"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5" name="Shape 21"/>
          <p:cNvSpPr/>
          <p:nvPr/>
        </p:nvSpPr>
        <p:spPr>
          <a:xfrm>
            <a:off x="6163056" y="1755648"/>
            <a:ext cx="2496312" cy="1417320"/>
          </a:xfrm>
          <a:prstGeom prst="roundRect">
            <a:avLst>
              <a:gd name="adj" fmla="val 6452"/>
            </a:avLst>
          </a:prstGeom>
          <a:solidFill>
            <a:srgbClr val="DCEEE8"/>
          </a:solidFill>
          <a:ln w="9525">
            <a:solidFill>
              <a:srgbClr val="12796D"/>
            </a:solidFill>
            <a:prstDash val="solid"/>
          </a:ln>
        </p:spPr>
      </p:sp>
      <p:sp>
        <p:nvSpPr>
          <p:cNvPr id="26" name="Text 22"/>
          <p:cNvSpPr txBox="1"/>
          <p:nvPr/>
        </p:nvSpPr>
        <p:spPr>
          <a:xfrm>
            <a:off x="6318504" y="1956816"/>
            <a:ext cx="2221992" cy="146304"/>
          </a:xfrm>
          <a:prstGeom prst="rect">
            <a:avLst/>
          </a:prstGeom>
          <a:noFill/>
          <a:ln/>
        </p:spPr>
        <p:txBody>
          <a:bodyPr wrap="square" lIns="0" tIns="0" rIns="0" bIns="0" rtlCol="0" anchor="t"/>
          <a:lstStyle/>
          <a:p>
            <a:pPr indent="0" marL="0">
              <a:buNone/>
            </a:pPr>
            <a:r>
              <a:rPr lang="en-US" sz="750" b="1" dirty="0">
                <a:solidFill>
                  <a:srgbClr val="12796D"/>
                </a:solidFill>
                <a:latin typeface="Arial" pitchFamily="34" charset="0"/>
                <a:ea typeface="Arial" pitchFamily="34" charset="-122"/>
                <a:cs typeface="Arial" pitchFamily="34" charset="-120"/>
              </a:rPr>
              <a:t>DIAGNOSE</a:t>
            </a:r>
            <a:endParaRPr lang="en-US" sz="750" dirty="0"/>
          </a:p>
        </p:txBody>
      </p:sp>
      <p:sp>
        <p:nvSpPr>
          <p:cNvPr id="27" name="Text 23"/>
          <p:cNvSpPr txBox="1"/>
          <p:nvPr/>
        </p:nvSpPr>
        <p:spPr>
          <a:xfrm>
            <a:off x="6318504"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Early Leaf Spot, 80%</a:t>
            </a:r>
            <a:endParaRPr lang="en-US" sz="1250" dirty="0"/>
          </a:p>
        </p:txBody>
      </p:sp>
      <p:sp>
        <p:nvSpPr>
          <p:cNvPr id="28" name="Text 24"/>
          <p:cNvSpPr txBox="1"/>
          <p:nvPr/>
        </p:nvSpPr>
        <p:spPr>
          <a:xfrm>
            <a:off x="6318504"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Moderate severity; Late Leaf Spot (70%) as alternative</a:t>
            </a:r>
            <a:endParaRPr lang="en-US" sz="950" dirty="0"/>
          </a:p>
        </p:txBody>
      </p:sp>
      <p:sp>
        <p:nvSpPr>
          <p:cNvPr id="29" name="Text 25"/>
          <p:cNvSpPr txBox="1"/>
          <p:nvPr/>
        </p:nvSpPr>
        <p:spPr>
          <a:xfrm>
            <a:off x="8659368"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0" name="Shape 26"/>
          <p:cNvSpPr/>
          <p:nvPr/>
        </p:nvSpPr>
        <p:spPr>
          <a:xfrm>
            <a:off x="8933688" y="1755648"/>
            <a:ext cx="2496312" cy="1417320"/>
          </a:xfrm>
          <a:prstGeom prst="roundRect">
            <a:avLst>
              <a:gd name="adj" fmla="val 6452"/>
            </a:avLst>
          </a:prstGeom>
          <a:solidFill>
            <a:srgbClr val="FFFDF7"/>
          </a:solidFill>
          <a:ln w="9525">
            <a:solidFill>
              <a:srgbClr val="DCD5C5"/>
            </a:solidFill>
            <a:prstDash val="solid"/>
          </a:ln>
        </p:spPr>
      </p:sp>
      <p:sp>
        <p:nvSpPr>
          <p:cNvPr id="31" name="Text 27"/>
          <p:cNvSpPr txBox="1"/>
          <p:nvPr/>
        </p:nvSpPr>
        <p:spPr>
          <a:xfrm>
            <a:off x="9089136"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ACT</a:t>
            </a:r>
            <a:endParaRPr lang="en-US" sz="750" dirty="0"/>
          </a:p>
        </p:txBody>
      </p:sp>
      <p:sp>
        <p:nvSpPr>
          <p:cNvPr id="32" name="Text 28"/>
          <p:cNvSpPr txBox="1"/>
          <p:nvPr/>
        </p:nvSpPr>
        <p:spPr>
          <a:xfrm>
            <a:off x="9089136"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Nearest support: ~36 min</a:t>
            </a:r>
            <a:endParaRPr lang="en-US" sz="1250" dirty="0"/>
          </a:p>
        </p:txBody>
      </p:sp>
      <p:sp>
        <p:nvSpPr>
          <p:cNvPr id="33" name="Text 29"/>
          <p:cNvSpPr txBox="1"/>
          <p:nvPr/>
        </p:nvSpPr>
        <p:spPr>
          <a:xfrm>
            <a:off x="9089136"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Agricultural college 20.3 km by road (Places + Routes)</a:t>
            </a:r>
            <a:endParaRPr lang="en-US" sz="950" dirty="0"/>
          </a:p>
        </p:txBody>
      </p:sp>
      <p:sp>
        <p:nvSpPr>
          <p:cNvPr id="34" name="Shape 30"/>
          <p:cNvSpPr/>
          <p:nvPr/>
        </p:nvSpPr>
        <p:spPr>
          <a:xfrm>
            <a:off x="621792" y="3611880"/>
            <a:ext cx="11000232" cy="2221992"/>
          </a:xfrm>
          <a:prstGeom prst="roundRect">
            <a:avLst>
              <a:gd name="adj" fmla="val 3292"/>
            </a:avLst>
          </a:prstGeom>
          <a:solidFill>
            <a:srgbClr val="1B3149"/>
          </a:solidFill>
          <a:ln/>
        </p:spPr>
      </p:sp>
      <p:sp>
        <p:nvSpPr>
          <p:cNvPr id="35" name="Text 31"/>
          <p:cNvSpPr txBox="1"/>
          <p:nvPr/>
        </p:nvSpPr>
        <p:spPr>
          <a:xfrm>
            <a:off x="896112" y="3895344"/>
            <a:ext cx="2743200" cy="146304"/>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OFFICER VIEW</a:t>
            </a:r>
            <a:endParaRPr lang="en-US" sz="850" dirty="0"/>
          </a:p>
        </p:txBody>
      </p:sp>
      <p:sp>
        <p:nvSpPr>
          <p:cNvPr id="36" name="Text 32"/>
          <p:cNvSpPr txBox="1"/>
          <p:nvPr/>
        </p:nvSpPr>
        <p:spPr>
          <a:xfrm>
            <a:off x="896112" y="4206240"/>
            <a:ext cx="3108960" cy="822960"/>
          </a:xfrm>
          <a:prstGeom prst="rect">
            <a:avLst/>
          </a:prstGeom>
          <a:noFill/>
          <a:ln/>
        </p:spPr>
        <p:txBody>
          <a:bodyPr wrap="square" lIns="0" tIns="0" rIns="0" bIns="0" rtlCol="0" anchor="b">
            <a:normAutofit/>
          </a:bodyPr>
          <a:lstStyle/>
          <a:p>
            <a:pPr indent="0" marL="0">
              <a:buNone/>
            </a:pPr>
            <a:r>
              <a:rPr lang="en-US" sz="2000" b="1" dirty="0">
                <a:solidFill>
                  <a:srgbClr val="FFFFFF"/>
                </a:solidFill>
                <a:latin typeface="Arial" pitchFamily="34" charset="0"/>
                <a:ea typeface="Arial" pitchFamily="34" charset="-122"/>
                <a:cs typeface="Arial" pitchFamily="34" charset="-120"/>
              </a:rPr>
              <a:t>Anantapur is the AP hotspot.</a:t>
            </a:r>
            <a:endParaRPr lang="en-US" sz="2000" dirty="0"/>
          </a:p>
        </p:txBody>
      </p:sp>
      <p:sp>
        <p:nvSpPr>
          <p:cNvPr id="37" name="Text 33"/>
          <p:cNvSpPr txBox="1"/>
          <p:nvPr/>
        </p:nvSpPr>
        <p:spPr>
          <a:xfrm>
            <a:off x="896112" y="5138928"/>
            <a:ext cx="3108960" cy="457200"/>
          </a:xfrm>
          <a:prstGeom prst="rect">
            <a:avLst/>
          </a:prstGeom>
          <a:noFill/>
          <a:ln/>
        </p:spPr>
        <p:txBody>
          <a:bodyPr wrap="square" lIns="0" tIns="0" rIns="0" bIns="0" rtlCol="0" anchor="t">
            <a:normAutofit/>
          </a:bodyPr>
          <a:lstStyle/>
          <a:p>
            <a:pPr indent="0" marL="0">
              <a:buNone/>
            </a:pPr>
            <a:r>
              <a:rPr lang="en-US" sz="1050" dirty="0">
                <a:solidFill>
                  <a:srgbClr val="D5DDE4"/>
                </a:solidFill>
                <a:latin typeface="Arial" pitchFamily="34" charset="0"/>
                <a:ea typeface="Arial" pitchFamily="34" charset="-122"/>
                <a:cs typeface="Arial" pitchFamily="34" charset="-120"/>
              </a:rPr>
              <a:t>Synthetic BigQuery indicators:</a:t>
            </a:r>
            <a:endParaRPr lang="en-US" sz="1050" dirty="0"/>
          </a:p>
        </p:txBody>
      </p:sp>
      <p:sp>
        <p:nvSpPr>
          <p:cNvPr id="38" name="Shape 34"/>
          <p:cNvSpPr/>
          <p:nvPr/>
        </p:nvSpPr>
        <p:spPr>
          <a:xfrm>
            <a:off x="4160520" y="4160520"/>
            <a:ext cx="402336" cy="402336"/>
          </a:xfrm>
          <a:prstGeom prst="ellipse">
            <a:avLst/>
          </a:prstGeom>
          <a:solidFill>
            <a:srgbClr val="12796D"/>
          </a:solidFill>
          <a:ln/>
        </p:spPr>
      </p:sp>
      <p:sp>
        <p:nvSpPr>
          <p:cNvPr id="39" name="Text 35"/>
          <p:cNvSpPr txBox="1"/>
          <p:nvPr/>
        </p:nvSpPr>
        <p:spPr>
          <a:xfrm>
            <a:off x="4160520"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0" name="Text 36"/>
          <p:cNvSpPr txBox="1"/>
          <p:nvPr/>
        </p:nvSpPr>
        <p:spPr>
          <a:xfrm>
            <a:off x="4663440"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18 disease / stress alerts</a:t>
            </a:r>
            <a:endParaRPr lang="en-US" sz="1150" dirty="0"/>
          </a:p>
        </p:txBody>
      </p:sp>
      <p:sp>
        <p:nvSpPr>
          <p:cNvPr id="41" name="Shape 37"/>
          <p:cNvSpPr/>
          <p:nvPr/>
        </p:nvSpPr>
        <p:spPr>
          <a:xfrm>
            <a:off x="6428232" y="4160520"/>
            <a:ext cx="402336" cy="402336"/>
          </a:xfrm>
          <a:prstGeom prst="ellipse">
            <a:avLst/>
          </a:prstGeom>
          <a:solidFill>
            <a:srgbClr val="12796D"/>
          </a:solidFill>
          <a:ln/>
        </p:spPr>
      </p:sp>
      <p:sp>
        <p:nvSpPr>
          <p:cNvPr id="42" name="Text 38"/>
          <p:cNvSpPr txBox="1"/>
          <p:nvPr/>
        </p:nvSpPr>
        <p:spPr>
          <a:xfrm>
            <a:off x="6428232"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3" name="Text 39"/>
          <p:cNvSpPr txBox="1"/>
          <p:nvPr/>
        </p:nvSpPr>
        <p:spPr>
          <a:xfrm>
            <a:off x="6931152"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Farm Health 56, water stress 0.70</a:t>
            </a:r>
            <a:endParaRPr lang="en-US" sz="1150" dirty="0"/>
          </a:p>
        </p:txBody>
      </p:sp>
      <p:sp>
        <p:nvSpPr>
          <p:cNvPr id="44" name="Shape 40"/>
          <p:cNvSpPr/>
          <p:nvPr/>
        </p:nvSpPr>
        <p:spPr>
          <a:xfrm>
            <a:off x="8695944" y="4160520"/>
            <a:ext cx="402336" cy="402336"/>
          </a:xfrm>
          <a:prstGeom prst="ellipse">
            <a:avLst/>
          </a:prstGeom>
          <a:solidFill>
            <a:srgbClr val="E8694A"/>
          </a:solidFill>
          <a:ln/>
        </p:spPr>
      </p:sp>
      <p:sp>
        <p:nvSpPr>
          <p:cNvPr id="45" name="Text 41"/>
          <p:cNvSpPr txBox="1"/>
          <p:nvPr/>
        </p:nvSpPr>
        <p:spPr>
          <a:xfrm>
            <a:off x="8695944"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2"/>
          <p:cNvSpPr txBox="1"/>
          <p:nvPr/>
        </p:nvSpPr>
        <p:spPr>
          <a:xfrm>
            <a:off x="9198864"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Lakshmi's advisory in review queue</a:t>
            </a:r>
            <a:endParaRPr lang="en-US" sz="1150" dirty="0"/>
          </a:p>
        </p:txBody>
      </p:sp>
      <p:sp>
        <p:nvSpPr>
          <p:cNvPr id="47" name="Text 43"/>
          <p:cNvSpPr txBox="1"/>
          <p:nvPr/>
        </p:nvSpPr>
        <p:spPr>
          <a:xfrm>
            <a:off x="4160520" y="5138928"/>
            <a:ext cx="1554480" cy="182880"/>
          </a:xfrm>
          <a:prstGeom prst="rect">
            <a:avLst/>
          </a:prstGeom>
          <a:noFill/>
          <a:ln/>
        </p:spPr>
        <p:txBody>
          <a:bodyPr wrap="square" lIns="0" tIns="0" rIns="0" bIns="0" rtlCol="0" anchor="t"/>
          <a:lstStyle/>
          <a:p>
            <a:pPr indent="0" marL="0">
              <a:buNone/>
            </a:pPr>
            <a:r>
              <a:rPr lang="en-US" sz="750" b="1" dirty="0">
                <a:solidFill>
                  <a:srgbClr val="F3CB7A"/>
                </a:solidFill>
                <a:latin typeface="Arial" pitchFamily="34" charset="0"/>
                <a:ea typeface="Arial" pitchFamily="34" charset="-122"/>
                <a:cs typeface="Arial" pitchFamily="34" charset="-120"/>
              </a:rPr>
              <a:t>NEXT SEASON</a:t>
            </a:r>
            <a:endParaRPr lang="en-US" sz="750" dirty="0"/>
          </a:p>
        </p:txBody>
      </p:sp>
      <p:sp>
        <p:nvSpPr>
          <p:cNvPr id="48" name="Text 44"/>
          <p:cNvSpPr txBox="1"/>
          <p:nvPr/>
        </p:nvSpPr>
        <p:spPr>
          <a:xfrm>
            <a:off x="5715000" y="5029200"/>
            <a:ext cx="5669280" cy="45720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Bajra 96 • foxtail millet 96 • jowar 91 • green gram 86 • red gram 85 (rule score, explained by Gemini).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06 — INNOVATION &amp; DIFFERENTIATION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Not another portal: a field layer that joins them.</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India's public systems each solve a valuable part; Agri AI Network composes them per field.</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[2] PIB, Digital Agriculture Mission (2024).  [3] PIB, GKMS (2023).  [4] PIB, Kisan Call Centre (2021).  [5] Soil Health Card portal.</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7</a:t>
            </a:r>
            <a:endParaRPr lang="en-US" sz="650" dirty="0"/>
          </a:p>
        </p:txBody>
      </p:sp>
      <p:sp>
        <p:nvSpPr>
          <p:cNvPr id="15" name="Text 11"/>
          <p:cNvSpPr txBox="1"/>
          <p:nvPr/>
        </p:nvSpPr>
        <p:spPr>
          <a:xfrm>
            <a:off x="658368" y="1581912"/>
            <a:ext cx="228600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APPROACH</a:t>
            </a:r>
            <a:endParaRPr lang="en-US" sz="800" dirty="0"/>
          </a:p>
        </p:txBody>
      </p:sp>
      <p:sp>
        <p:nvSpPr>
          <p:cNvPr id="16" name="Text 12"/>
          <p:cNvSpPr txBox="1"/>
          <p:nvPr/>
        </p:nvSpPr>
        <p:spPr>
          <a:xfrm>
            <a:off x="2670048" y="1581912"/>
            <a:ext cx="402336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WHAT IT CONTRIBUTES</a:t>
            </a:r>
            <a:endParaRPr lang="en-US" sz="800" dirty="0"/>
          </a:p>
        </p:txBody>
      </p:sp>
      <p:sp>
        <p:nvSpPr>
          <p:cNvPr id="17" name="Text 13"/>
          <p:cNvSpPr txBox="1"/>
          <p:nvPr/>
        </p:nvSpPr>
        <p:spPr>
          <a:xfrm>
            <a:off x="6894576" y="1581912"/>
            <a:ext cx="438912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REMAINING GAP FOR THE FIELD DECISION</a:t>
            </a:r>
            <a:endParaRPr lang="en-US" sz="800" dirty="0"/>
          </a:p>
        </p:txBody>
      </p:sp>
      <p:sp>
        <p:nvSpPr>
          <p:cNvPr id="18" name="Shape 14"/>
          <p:cNvSpPr/>
          <p:nvPr/>
        </p:nvSpPr>
        <p:spPr>
          <a:xfrm>
            <a:off x="621792" y="1874520"/>
            <a:ext cx="11000232" cy="603504"/>
          </a:xfrm>
          <a:prstGeom prst="roundRect">
            <a:avLst>
              <a:gd name="adj" fmla="val 12121"/>
            </a:avLst>
          </a:prstGeom>
          <a:solidFill>
            <a:srgbClr val="F0ECE3"/>
          </a:solidFill>
          <a:ln w="9525">
            <a:solidFill>
              <a:srgbClr val="DCD5C5"/>
            </a:solidFill>
            <a:prstDash val="solid"/>
          </a:ln>
        </p:spPr>
      </p:sp>
      <p:sp>
        <p:nvSpPr>
          <p:cNvPr id="19" name="Text 15"/>
          <p:cNvSpPr txBox="1"/>
          <p:nvPr/>
        </p:nvSpPr>
        <p:spPr>
          <a:xfrm>
            <a:off x="822960" y="1947672"/>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Kisan Call Centre</a:t>
            </a:r>
            <a:endParaRPr lang="en-US" sz="1150" dirty="0"/>
          </a:p>
        </p:txBody>
      </p:sp>
      <p:sp>
        <p:nvSpPr>
          <p:cNvPr id="20" name="Text 16"/>
          <p:cNvSpPr txBox="1"/>
          <p:nvPr/>
        </p:nvSpPr>
        <p:spPr>
          <a:xfrm>
            <a:off x="2834640" y="1947672"/>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Toll-free expert answers in 22 languages [4]</a:t>
            </a:r>
            <a:endParaRPr lang="en-US" sz="1000" dirty="0"/>
          </a:p>
        </p:txBody>
      </p:sp>
      <p:sp>
        <p:nvSpPr>
          <p:cNvPr id="21" name="Text 17"/>
          <p:cNvSpPr txBox="1"/>
          <p:nvPr/>
        </p:nvSpPr>
        <p:spPr>
          <a:xfrm>
            <a:off x="7059168" y="1947672"/>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Answers a call; does not see the field's own data</a:t>
            </a:r>
            <a:endParaRPr lang="en-US" sz="1000" dirty="0"/>
          </a:p>
        </p:txBody>
      </p:sp>
      <p:sp>
        <p:nvSpPr>
          <p:cNvPr id="22" name="Shape 18"/>
          <p:cNvSpPr/>
          <p:nvPr/>
        </p:nvSpPr>
        <p:spPr>
          <a:xfrm>
            <a:off x="621792" y="2633472"/>
            <a:ext cx="11000232" cy="603504"/>
          </a:xfrm>
          <a:prstGeom prst="roundRect">
            <a:avLst>
              <a:gd name="adj" fmla="val 12121"/>
            </a:avLst>
          </a:prstGeom>
          <a:solidFill>
            <a:srgbClr val="FFFDF7"/>
          </a:solidFill>
          <a:ln w="9525">
            <a:solidFill>
              <a:srgbClr val="DCD5C5"/>
            </a:solidFill>
            <a:prstDash val="solid"/>
          </a:ln>
        </p:spPr>
      </p:sp>
      <p:sp>
        <p:nvSpPr>
          <p:cNvPr id="23" name="Text 19"/>
          <p:cNvSpPr txBox="1"/>
          <p:nvPr/>
        </p:nvSpPr>
        <p:spPr>
          <a:xfrm>
            <a:off x="822960" y="2706624"/>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GKMS agromet</a:t>
            </a:r>
            <a:endParaRPr lang="en-US" sz="1150" dirty="0"/>
          </a:p>
        </p:txBody>
      </p:sp>
      <p:sp>
        <p:nvSpPr>
          <p:cNvPr id="24" name="Text 20"/>
          <p:cNvSpPr txBox="1"/>
          <p:nvPr/>
        </p:nvSpPr>
        <p:spPr>
          <a:xfrm>
            <a:off x="2834640" y="2706624"/>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District / block weather-based advisories, IMD with ICAR [3]</a:t>
            </a:r>
            <a:endParaRPr lang="en-US" sz="1000" dirty="0"/>
          </a:p>
        </p:txBody>
      </p:sp>
      <p:sp>
        <p:nvSpPr>
          <p:cNvPr id="25" name="Text 21"/>
          <p:cNvSpPr txBox="1"/>
          <p:nvPr/>
        </p:nvSpPr>
        <p:spPr>
          <a:xfrm>
            <a:off x="7059168" y="2706624"/>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Block level, not field level; no photo or soil card link</a:t>
            </a:r>
            <a:endParaRPr lang="en-US" sz="1000" dirty="0"/>
          </a:p>
        </p:txBody>
      </p:sp>
      <p:sp>
        <p:nvSpPr>
          <p:cNvPr id="26" name="Shape 22"/>
          <p:cNvSpPr/>
          <p:nvPr/>
        </p:nvSpPr>
        <p:spPr>
          <a:xfrm>
            <a:off x="621792" y="3392424"/>
            <a:ext cx="11000232" cy="603504"/>
          </a:xfrm>
          <a:prstGeom prst="roundRect">
            <a:avLst>
              <a:gd name="adj" fmla="val 12121"/>
            </a:avLst>
          </a:prstGeom>
          <a:solidFill>
            <a:srgbClr val="F0ECE3"/>
          </a:solidFill>
          <a:ln w="9525">
            <a:solidFill>
              <a:srgbClr val="DCD5C5"/>
            </a:solidFill>
            <a:prstDash val="solid"/>
          </a:ln>
        </p:spPr>
      </p:sp>
      <p:sp>
        <p:nvSpPr>
          <p:cNvPr id="27" name="Text 23"/>
          <p:cNvSpPr txBox="1"/>
          <p:nvPr/>
        </p:nvSpPr>
        <p:spPr>
          <a:xfrm>
            <a:off x="822960" y="3465576"/>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Soil Health Card</a:t>
            </a:r>
            <a:endParaRPr lang="en-US" sz="1150" dirty="0"/>
          </a:p>
        </p:txBody>
      </p:sp>
      <p:sp>
        <p:nvSpPr>
          <p:cNvPr id="28" name="Text 24"/>
          <p:cNvSpPr txBox="1"/>
          <p:nvPr/>
        </p:nvSpPr>
        <p:spPr>
          <a:xfrm>
            <a:off x="2834640" y="3465576"/>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Lab-tested N, P, K, pH, organic carbon per sample [5]</a:t>
            </a:r>
            <a:endParaRPr lang="en-US" sz="1000" dirty="0"/>
          </a:p>
        </p:txBody>
      </p:sp>
      <p:sp>
        <p:nvSpPr>
          <p:cNvPr id="29" name="Text 25"/>
          <p:cNvSpPr txBox="1"/>
          <p:nvPr/>
        </p:nvSpPr>
        <p:spPr>
          <a:xfrm>
            <a:off x="7059168" y="3465576"/>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Static card, not joined with weather or crop stage</a:t>
            </a:r>
            <a:endParaRPr lang="en-US" sz="1000" dirty="0"/>
          </a:p>
        </p:txBody>
      </p:sp>
      <p:sp>
        <p:nvSpPr>
          <p:cNvPr id="30" name="Shape 26"/>
          <p:cNvSpPr/>
          <p:nvPr/>
        </p:nvSpPr>
        <p:spPr>
          <a:xfrm>
            <a:off x="621792" y="4151376"/>
            <a:ext cx="11000232" cy="603504"/>
          </a:xfrm>
          <a:prstGeom prst="roundRect">
            <a:avLst>
              <a:gd name="adj" fmla="val 12121"/>
            </a:avLst>
          </a:prstGeom>
          <a:solidFill>
            <a:srgbClr val="FFFDF7"/>
          </a:solidFill>
          <a:ln w="9525">
            <a:solidFill>
              <a:srgbClr val="DCD5C5"/>
            </a:solidFill>
            <a:prstDash val="solid"/>
          </a:ln>
        </p:spPr>
      </p:sp>
      <p:sp>
        <p:nvSpPr>
          <p:cNvPr id="31" name="Text 27"/>
          <p:cNvSpPr txBox="1"/>
          <p:nvPr/>
        </p:nvSpPr>
        <p:spPr>
          <a:xfrm>
            <a:off x="822960" y="4224528"/>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Digital Agri Mission</a:t>
            </a:r>
            <a:endParaRPr lang="en-US" sz="1150" dirty="0"/>
          </a:p>
        </p:txBody>
      </p:sp>
      <p:sp>
        <p:nvSpPr>
          <p:cNvPr id="32" name="Text 28"/>
          <p:cNvSpPr txBox="1"/>
          <p:nvPr/>
        </p:nvSpPr>
        <p:spPr>
          <a:xfrm>
            <a:off x="2834640" y="4224528"/>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AgriStack, Krishi DSS and soil maps as national DPI [2]</a:t>
            </a:r>
            <a:endParaRPr lang="en-US" sz="1000" dirty="0"/>
          </a:p>
        </p:txBody>
      </p:sp>
      <p:sp>
        <p:nvSpPr>
          <p:cNvPr id="33" name="Text 29"/>
          <p:cNvSpPr txBox="1"/>
          <p:nvPr/>
        </p:nvSpPr>
        <p:spPr>
          <a:xfrm>
            <a:off x="7059168" y="4224528"/>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Infrastructure layer; farmer-facing advice is left to apps</a:t>
            </a:r>
            <a:endParaRPr lang="en-US" sz="1000" dirty="0"/>
          </a:p>
        </p:txBody>
      </p:sp>
      <p:sp>
        <p:nvSpPr>
          <p:cNvPr id="34" name="Shape 30"/>
          <p:cNvSpPr/>
          <p:nvPr/>
        </p:nvSpPr>
        <p:spPr>
          <a:xfrm>
            <a:off x="621792" y="4910328"/>
            <a:ext cx="11000232" cy="603504"/>
          </a:xfrm>
          <a:prstGeom prst="roundRect">
            <a:avLst>
              <a:gd name="adj" fmla="val 12121"/>
            </a:avLst>
          </a:prstGeom>
          <a:solidFill>
            <a:srgbClr val="DCEEE8"/>
          </a:solidFill>
          <a:ln w="9525">
            <a:solidFill>
              <a:srgbClr val="12796D"/>
            </a:solidFill>
            <a:prstDash val="solid"/>
          </a:ln>
        </p:spPr>
      </p:sp>
      <p:sp>
        <p:nvSpPr>
          <p:cNvPr id="35" name="Text 31"/>
          <p:cNvSpPr txBox="1"/>
          <p:nvPr/>
        </p:nvSpPr>
        <p:spPr>
          <a:xfrm>
            <a:off x="822960" y="4983480"/>
            <a:ext cx="1920240" cy="457200"/>
          </a:xfrm>
          <a:prstGeom prst="rect">
            <a:avLst/>
          </a:prstGeom>
          <a:noFill/>
          <a:ln/>
        </p:spPr>
        <p:txBody>
          <a:bodyPr wrap="square" lIns="0" tIns="0" rIns="0" bIns="0" rtlCol="0" anchor="ctr">
            <a:normAutofit/>
          </a:bodyPr>
          <a:lstStyle/>
          <a:p>
            <a:pPr indent="0" marL="0">
              <a:buNone/>
            </a:pPr>
            <a:r>
              <a:rPr lang="en-US" sz="1150" b="1" dirty="0">
                <a:solidFill>
                  <a:srgbClr val="12796D"/>
                </a:solidFill>
                <a:latin typeface="Arial" pitchFamily="34" charset="0"/>
                <a:ea typeface="Arial" pitchFamily="34" charset="-122"/>
                <a:cs typeface="Arial" pitchFamily="34" charset="-120"/>
              </a:rPr>
              <a:t>Agri AI Network</a:t>
            </a:r>
            <a:endParaRPr lang="en-US" sz="1150" dirty="0"/>
          </a:p>
        </p:txBody>
      </p:sp>
      <p:sp>
        <p:nvSpPr>
          <p:cNvPr id="36" name="Text 32"/>
          <p:cNvSpPr txBox="1"/>
          <p:nvPr/>
        </p:nvSpPr>
        <p:spPr>
          <a:xfrm>
            <a:off x="2834640" y="4983480"/>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Field context + Gemini advice + photo check + officer review</a:t>
            </a:r>
            <a:endParaRPr lang="en-US" sz="1000" dirty="0"/>
          </a:p>
        </p:txBody>
      </p:sp>
      <p:sp>
        <p:nvSpPr>
          <p:cNvPr id="37" name="Text 33"/>
          <p:cNvSpPr txBox="1"/>
          <p:nvPr/>
        </p:nvSpPr>
        <p:spPr>
          <a:xfrm>
            <a:off x="7059168" y="4983480"/>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Prototype on sample state data; not yet field-validated</a:t>
            </a:r>
            <a:endParaRPr lang="en-US" sz="1000" dirty="0"/>
          </a:p>
        </p:txBody>
      </p:sp>
      <p:sp>
        <p:nvSpPr>
          <p:cNvPr id="38" name="Shape 34"/>
          <p:cNvSpPr/>
          <p:nvPr/>
        </p:nvSpPr>
        <p:spPr>
          <a:xfrm>
            <a:off x="658368" y="5843016"/>
            <a:ext cx="1719072" cy="310896"/>
          </a:xfrm>
          <a:prstGeom prst="roundRect">
            <a:avLst>
              <a:gd name="adj" fmla="val 23529"/>
            </a:avLst>
          </a:prstGeom>
          <a:solidFill>
            <a:srgbClr val="1B3149"/>
          </a:solidFill>
          <a:ln/>
        </p:spPr>
      </p:sp>
      <p:sp>
        <p:nvSpPr>
          <p:cNvPr id="39" name="Text 35"/>
          <p:cNvSpPr txBox="1"/>
          <p:nvPr/>
        </p:nvSpPr>
        <p:spPr>
          <a:xfrm>
            <a:off x="658368" y="5843016"/>
            <a:ext cx="171907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DISTINCTIVE CAPABILITY</a:t>
            </a:r>
            <a:endParaRPr lang="en-US" sz="700" dirty="0"/>
          </a:p>
        </p:txBody>
      </p:sp>
      <p:sp>
        <p:nvSpPr>
          <p:cNvPr id="40" name="Text 36"/>
          <p:cNvSpPr txBox="1"/>
          <p:nvPr/>
        </p:nvSpPr>
        <p:spPr>
          <a:xfrm>
            <a:off x="2606040" y="5824728"/>
            <a:ext cx="8961120" cy="347472"/>
          </a:xfrm>
          <a:prstGeom prst="rect">
            <a:avLst/>
          </a:prstGeom>
          <a:noFill/>
          <a:ln/>
        </p:spPr>
        <p:txBody>
          <a:bodyPr wrap="square" lIns="0" tIns="0" rIns="0" bIns="0" rtlCol="0" anchor="ctr">
            <a:normAutofit/>
          </a:bodyPr>
          <a:lstStyle/>
          <a:p>
            <a:pPr indent="0" marL="0">
              <a:buNone/>
            </a:pPr>
            <a:r>
              <a:rPr lang="en-US" sz="1400" b="1" dirty="0">
                <a:solidFill>
                  <a:srgbClr val="1B3149"/>
                </a:solidFill>
                <a:latin typeface="Arial" pitchFamily="34" charset="0"/>
                <a:ea typeface="Arial" pitchFamily="34" charset="-122"/>
                <a:cs typeface="Arial" pitchFamily="34" charset="-120"/>
              </a:rPr>
              <a:t>Consumes public-system data through state adapters instead of replacing them.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07 — TECHNOLOGY &amp; GOOGLE AI</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Bounded Gemini on a canonical, state-agnostic model.</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Every data block carries source and timestamp; AI returns schema-validated JSON or falls back to rules.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[6] Sentinel-2 SR Harmonized on Earth Engine.  [7] Open-Meteo; ISRIC SoilGrids.  Status from /api/system/status, local run, 30 Sep 2026.</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8</a:t>
            </a:r>
            <a:endParaRPr lang="en-US" sz="650" dirty="0"/>
          </a:p>
        </p:txBody>
      </p:sp>
      <p:sp>
        <p:nvSpPr>
          <p:cNvPr id="15" name="Shape 11"/>
          <p:cNvSpPr/>
          <p:nvPr/>
        </p:nvSpPr>
        <p:spPr>
          <a:xfrm>
            <a:off x="621792" y="1709928"/>
            <a:ext cx="6702552" cy="612648"/>
          </a:xfrm>
          <a:prstGeom prst="roundRect">
            <a:avLst>
              <a:gd name="adj" fmla="val 11940"/>
            </a:avLst>
          </a:prstGeom>
          <a:solidFill>
            <a:srgbClr val="FFFDF7"/>
          </a:solidFill>
          <a:ln w="9525">
            <a:solidFill>
              <a:srgbClr val="DCD5C5"/>
            </a:solidFill>
            <a:prstDash val="solid"/>
          </a:ln>
        </p:spPr>
      </p:sp>
      <p:sp>
        <p:nvSpPr>
          <p:cNvPr id="16" name="Text 12"/>
          <p:cNvSpPr txBox="1"/>
          <p:nvPr/>
        </p:nvSpPr>
        <p:spPr>
          <a:xfrm>
            <a:off x="822960" y="1911096"/>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1234440" y="1874520"/>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CHANNELS</a:t>
            </a:r>
            <a:endParaRPr lang="en-US" sz="1100" dirty="0"/>
          </a:p>
        </p:txBody>
      </p:sp>
      <p:sp>
        <p:nvSpPr>
          <p:cNvPr id="18" name="Text 14"/>
          <p:cNvSpPr txBox="1"/>
          <p:nvPr/>
        </p:nvSpPr>
        <p:spPr>
          <a:xfrm>
            <a:off x="3246120" y="1819656"/>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Farmer web app (en / hi / te, voice) • Officer dashboard • Next.js 16</a:t>
            </a:r>
            <a:endParaRPr lang="en-US" sz="950" dirty="0"/>
          </a:p>
        </p:txBody>
      </p:sp>
      <p:sp>
        <p:nvSpPr>
          <p:cNvPr id="19" name="Shape 15"/>
          <p:cNvSpPr/>
          <p:nvPr/>
        </p:nvSpPr>
        <p:spPr>
          <a:xfrm>
            <a:off x="621792" y="2514600"/>
            <a:ext cx="6702552" cy="612648"/>
          </a:xfrm>
          <a:prstGeom prst="roundRect">
            <a:avLst>
              <a:gd name="adj" fmla="val 11940"/>
            </a:avLst>
          </a:prstGeom>
          <a:solidFill>
            <a:srgbClr val="FFFDF7"/>
          </a:solidFill>
          <a:ln w="9525">
            <a:solidFill>
              <a:srgbClr val="DCD5C5"/>
            </a:solidFill>
            <a:prstDash val="solid"/>
          </a:ln>
        </p:spPr>
      </p:sp>
      <p:sp>
        <p:nvSpPr>
          <p:cNvPr id="20" name="Text 16"/>
          <p:cNvSpPr txBox="1"/>
          <p:nvPr/>
        </p:nvSpPr>
        <p:spPr>
          <a:xfrm>
            <a:off x="822960" y="2715768"/>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1" name="Text 17"/>
          <p:cNvSpPr txBox="1"/>
          <p:nvPr/>
        </p:nvSpPr>
        <p:spPr>
          <a:xfrm>
            <a:off x="1234440" y="2679192"/>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STATE ADAPTERS</a:t>
            </a:r>
            <a:endParaRPr lang="en-US" sz="1100" dirty="0"/>
          </a:p>
        </p:txBody>
      </p:sp>
      <p:sp>
        <p:nvSpPr>
          <p:cNvPr id="22" name="Text 18"/>
          <p:cNvSpPr txBox="1"/>
          <p:nvPr/>
        </p:nvSpPr>
        <p:spPr>
          <a:xfrm>
            <a:off x="3246120" y="2624328"/>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AP e-Crop, MahaDBT, Punjab land-record formats → one canonical schema</a:t>
            </a:r>
            <a:endParaRPr lang="en-US" sz="950" dirty="0"/>
          </a:p>
        </p:txBody>
      </p:sp>
      <p:sp>
        <p:nvSpPr>
          <p:cNvPr id="23" name="Shape 19"/>
          <p:cNvSpPr/>
          <p:nvPr/>
        </p:nvSpPr>
        <p:spPr>
          <a:xfrm>
            <a:off x="621792" y="3319272"/>
            <a:ext cx="6702552" cy="612648"/>
          </a:xfrm>
          <a:prstGeom prst="roundRect">
            <a:avLst>
              <a:gd name="adj" fmla="val 11940"/>
            </a:avLst>
          </a:prstGeom>
          <a:solidFill>
            <a:srgbClr val="FFFDF7"/>
          </a:solidFill>
          <a:ln w="9525">
            <a:solidFill>
              <a:srgbClr val="DCD5C5"/>
            </a:solidFill>
            <a:prstDash val="solid"/>
          </a:ln>
        </p:spPr>
      </p:sp>
      <p:sp>
        <p:nvSpPr>
          <p:cNvPr id="24" name="Text 20"/>
          <p:cNvSpPr txBox="1"/>
          <p:nvPr/>
        </p:nvSpPr>
        <p:spPr>
          <a:xfrm>
            <a:off x="822960" y="3520440"/>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5" name="Text 21"/>
          <p:cNvSpPr txBox="1"/>
          <p:nvPr/>
        </p:nvSpPr>
        <p:spPr>
          <a:xfrm>
            <a:off x="1234440" y="3483864"/>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DATA LAYER</a:t>
            </a:r>
            <a:endParaRPr lang="en-US" sz="1100" dirty="0"/>
          </a:p>
        </p:txBody>
      </p:sp>
      <p:sp>
        <p:nvSpPr>
          <p:cNvPr id="26" name="Text 22"/>
          <p:cNvSpPr txBox="1"/>
          <p:nvPr/>
        </p:nvSpPr>
        <p:spPr>
          <a:xfrm>
            <a:off x="3246120" y="3429000"/>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Open-Meteo • Soil Health Card + SoilGrids • Sentinel-2 via Earth Engine • BigQuery</a:t>
            </a:r>
            <a:endParaRPr lang="en-US" sz="950" dirty="0"/>
          </a:p>
        </p:txBody>
      </p:sp>
      <p:sp>
        <p:nvSpPr>
          <p:cNvPr id="27" name="Shape 23"/>
          <p:cNvSpPr/>
          <p:nvPr/>
        </p:nvSpPr>
        <p:spPr>
          <a:xfrm>
            <a:off x="621792" y="4123944"/>
            <a:ext cx="6702552" cy="612648"/>
          </a:xfrm>
          <a:prstGeom prst="roundRect">
            <a:avLst>
              <a:gd name="adj" fmla="val 11940"/>
            </a:avLst>
          </a:prstGeom>
          <a:solidFill>
            <a:srgbClr val="DCEEE8"/>
          </a:solidFill>
          <a:ln w="9525">
            <a:solidFill>
              <a:srgbClr val="12796D"/>
            </a:solidFill>
            <a:prstDash val="solid"/>
          </a:ln>
        </p:spPr>
      </p:sp>
      <p:sp>
        <p:nvSpPr>
          <p:cNvPr id="28" name="Text 24"/>
          <p:cNvSpPr txBox="1"/>
          <p:nvPr/>
        </p:nvSpPr>
        <p:spPr>
          <a:xfrm>
            <a:off x="822960" y="4325112"/>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29" name="Text 25"/>
          <p:cNvSpPr txBox="1"/>
          <p:nvPr/>
        </p:nvSpPr>
        <p:spPr>
          <a:xfrm>
            <a:off x="1234440" y="4288536"/>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AI LAYER</a:t>
            </a:r>
            <a:endParaRPr lang="en-US" sz="1100" dirty="0"/>
          </a:p>
        </p:txBody>
      </p:sp>
      <p:sp>
        <p:nvSpPr>
          <p:cNvPr id="30" name="Text 26"/>
          <p:cNvSpPr txBox="1"/>
          <p:nvPr/>
        </p:nvSpPr>
        <p:spPr>
          <a:xfrm>
            <a:off x="3246120" y="4233672"/>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Gemini 2.5 Flash on Vertex AI • Pydantic-validated JSON • model + prompt version</a:t>
            </a:r>
            <a:endParaRPr lang="en-US" sz="950" dirty="0"/>
          </a:p>
        </p:txBody>
      </p:sp>
      <p:sp>
        <p:nvSpPr>
          <p:cNvPr id="31" name="Shape 27"/>
          <p:cNvSpPr/>
          <p:nvPr/>
        </p:nvSpPr>
        <p:spPr>
          <a:xfrm>
            <a:off x="621792" y="4928616"/>
            <a:ext cx="6702552" cy="612648"/>
          </a:xfrm>
          <a:prstGeom prst="roundRect">
            <a:avLst>
              <a:gd name="adj" fmla="val 11940"/>
            </a:avLst>
          </a:prstGeom>
          <a:solidFill>
            <a:srgbClr val="FFFDF7"/>
          </a:solidFill>
          <a:ln w="9525">
            <a:solidFill>
              <a:srgbClr val="DCD5C5"/>
            </a:solidFill>
            <a:prstDash val="solid"/>
          </a:ln>
        </p:spPr>
      </p:sp>
      <p:sp>
        <p:nvSpPr>
          <p:cNvPr id="32" name="Text 28"/>
          <p:cNvSpPr txBox="1"/>
          <p:nvPr/>
        </p:nvSpPr>
        <p:spPr>
          <a:xfrm>
            <a:off x="822960" y="5129784"/>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05</a:t>
            </a:r>
            <a:endParaRPr lang="en-US" sz="750" dirty="0"/>
          </a:p>
        </p:txBody>
      </p:sp>
      <p:sp>
        <p:nvSpPr>
          <p:cNvPr id="33" name="Text 29"/>
          <p:cNvSpPr txBox="1"/>
          <p:nvPr/>
        </p:nvSpPr>
        <p:spPr>
          <a:xfrm>
            <a:off x="1234440" y="5093208"/>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DELIVERY</a:t>
            </a:r>
            <a:endParaRPr lang="en-US" sz="1100" dirty="0"/>
          </a:p>
        </p:txBody>
      </p:sp>
      <p:sp>
        <p:nvSpPr>
          <p:cNvPr id="34" name="Text 30"/>
          <p:cNvSpPr txBox="1"/>
          <p:nvPr/>
        </p:nvSpPr>
        <p:spPr>
          <a:xfrm>
            <a:off x="3246120" y="5038344"/>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FastAPI + both apps on Cloud Run • private Cloud Storage • Secret Manager</a:t>
            </a:r>
            <a:endParaRPr lang="en-US" sz="950" dirty="0"/>
          </a:p>
        </p:txBody>
      </p:sp>
      <p:sp>
        <p:nvSpPr>
          <p:cNvPr id="35" name="Shape 31"/>
          <p:cNvSpPr/>
          <p:nvPr/>
        </p:nvSpPr>
        <p:spPr>
          <a:xfrm>
            <a:off x="7662672" y="1700784"/>
            <a:ext cx="3931920" cy="2011680"/>
          </a:xfrm>
          <a:prstGeom prst="roundRect">
            <a:avLst>
              <a:gd name="adj" fmla="val 3636"/>
            </a:avLst>
          </a:prstGeom>
          <a:solidFill>
            <a:srgbClr val="1B3149"/>
          </a:solidFill>
          <a:ln/>
        </p:spPr>
      </p:sp>
      <p:sp>
        <p:nvSpPr>
          <p:cNvPr id="36" name="Text 32"/>
          <p:cNvSpPr txBox="1"/>
          <p:nvPr/>
        </p:nvSpPr>
        <p:spPr>
          <a:xfrm>
            <a:off x="7955280" y="1920240"/>
            <a:ext cx="3474720" cy="22860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Arial" pitchFamily="34" charset="0"/>
                <a:ea typeface="Arial" pitchFamily="34" charset="-122"/>
                <a:cs typeface="Arial" pitchFamily="34" charset="-120"/>
              </a:rPr>
              <a:t>GOOGLE AI INTEGRATION MAP</a:t>
            </a:r>
            <a:endParaRPr lang="en-US" sz="1200" dirty="0"/>
          </a:p>
        </p:txBody>
      </p:sp>
      <p:sp>
        <p:nvSpPr>
          <p:cNvPr id="37" name="Shape 33"/>
          <p:cNvSpPr/>
          <p:nvPr/>
        </p:nvSpPr>
        <p:spPr>
          <a:xfrm>
            <a:off x="7982712" y="2340864"/>
            <a:ext cx="109728" cy="109728"/>
          </a:xfrm>
          <a:prstGeom prst="ellipse">
            <a:avLst/>
          </a:prstGeom>
          <a:solidFill>
            <a:srgbClr val="9ED8CC"/>
          </a:solidFill>
          <a:ln/>
        </p:spPr>
      </p:sp>
      <p:sp>
        <p:nvSpPr>
          <p:cNvPr id="38" name="Text 34"/>
          <p:cNvSpPr txBox="1"/>
          <p:nvPr/>
        </p:nvSpPr>
        <p:spPr>
          <a:xfrm>
            <a:off x="8211312" y="2286000"/>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Gemini 2.5 Flash: advisory, Q&amp;A, Crop Doctor (multimodal)</a:t>
            </a:r>
            <a:endParaRPr lang="en-US" sz="950" dirty="0"/>
          </a:p>
        </p:txBody>
      </p:sp>
      <p:sp>
        <p:nvSpPr>
          <p:cNvPr id="39" name="Shape 35"/>
          <p:cNvSpPr/>
          <p:nvPr/>
        </p:nvSpPr>
        <p:spPr>
          <a:xfrm>
            <a:off x="7982712" y="2642616"/>
            <a:ext cx="109728" cy="109728"/>
          </a:xfrm>
          <a:prstGeom prst="ellipse">
            <a:avLst/>
          </a:prstGeom>
          <a:solidFill>
            <a:srgbClr val="9ED8CC"/>
          </a:solidFill>
          <a:ln/>
        </p:spPr>
      </p:sp>
      <p:sp>
        <p:nvSpPr>
          <p:cNvPr id="40" name="Text 36"/>
          <p:cNvSpPr txBox="1"/>
          <p:nvPr/>
        </p:nvSpPr>
        <p:spPr>
          <a:xfrm>
            <a:off x="8211312" y="2587752"/>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Speech-to-Text, Text-to-Speech, Translation</a:t>
            </a:r>
            <a:endParaRPr lang="en-US" sz="950" dirty="0"/>
          </a:p>
        </p:txBody>
      </p:sp>
      <p:sp>
        <p:nvSpPr>
          <p:cNvPr id="41" name="Shape 37"/>
          <p:cNvSpPr/>
          <p:nvPr/>
        </p:nvSpPr>
        <p:spPr>
          <a:xfrm>
            <a:off x="7982712" y="2944368"/>
            <a:ext cx="109728" cy="109728"/>
          </a:xfrm>
          <a:prstGeom prst="ellipse">
            <a:avLst/>
          </a:prstGeom>
          <a:solidFill>
            <a:srgbClr val="9ED8CC"/>
          </a:solidFill>
          <a:ln/>
        </p:spPr>
      </p:sp>
      <p:sp>
        <p:nvSpPr>
          <p:cNvPr id="42" name="Text 38"/>
          <p:cNvSpPr txBox="1"/>
          <p:nvPr/>
        </p:nvSpPr>
        <p:spPr>
          <a:xfrm>
            <a:off x="8211312" y="2889504"/>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Earth Engine • Maps Places / Routes • BigQuery</a:t>
            </a:r>
            <a:endParaRPr lang="en-US" sz="950" dirty="0"/>
          </a:p>
        </p:txBody>
      </p:sp>
      <p:sp>
        <p:nvSpPr>
          <p:cNvPr id="43" name="Shape 39"/>
          <p:cNvSpPr/>
          <p:nvPr/>
        </p:nvSpPr>
        <p:spPr>
          <a:xfrm>
            <a:off x="7964424" y="3364992"/>
            <a:ext cx="822960" cy="274320"/>
          </a:xfrm>
          <a:prstGeom prst="roundRect">
            <a:avLst>
              <a:gd name="adj" fmla="val 26667"/>
            </a:avLst>
          </a:prstGeom>
          <a:solidFill>
            <a:srgbClr val="E8694A"/>
          </a:solidFill>
          <a:ln/>
        </p:spPr>
      </p:sp>
      <p:sp>
        <p:nvSpPr>
          <p:cNvPr id="44" name="Text 40"/>
          <p:cNvSpPr txBox="1"/>
          <p:nvPr/>
        </p:nvSpPr>
        <p:spPr>
          <a:xfrm>
            <a:off x="7964424" y="3364992"/>
            <a:ext cx="822960" cy="274320"/>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Arial" pitchFamily="34" charset="0"/>
                <a:ea typeface="Arial" pitchFamily="34" charset="-122"/>
                <a:cs typeface="Arial" pitchFamily="34" charset="-120"/>
              </a:rPr>
              <a:t>PENDING</a:t>
            </a:r>
            <a:endParaRPr lang="en-US" sz="650" dirty="0"/>
          </a:p>
        </p:txBody>
      </p:sp>
      <p:sp>
        <p:nvSpPr>
          <p:cNvPr id="45" name="Text 41"/>
          <p:cNvSpPr txBox="1"/>
          <p:nvPr/>
        </p:nvSpPr>
        <p:spPr>
          <a:xfrm>
            <a:off x="8869680" y="3346704"/>
            <a:ext cx="2606040" cy="310896"/>
          </a:xfrm>
          <a:prstGeom prst="rect">
            <a:avLst/>
          </a:prstGeom>
          <a:noFill/>
          <a:ln/>
        </p:spPr>
        <p:txBody>
          <a:bodyPr wrap="square" lIns="0" tIns="0" rIns="0" bIns="0" rtlCol="0" anchor="ctr">
            <a:normAutofit/>
          </a:bodyPr>
          <a:lstStyle/>
          <a:p>
            <a:pPr indent="0" marL="0">
              <a:buNone/>
            </a:pPr>
            <a:r>
              <a:rPr lang="en-US" sz="850" b="1" dirty="0">
                <a:solidFill>
                  <a:srgbClr val="F3CB7A"/>
                </a:solidFill>
                <a:latin typeface="Arial" pitchFamily="34" charset="0"/>
                <a:ea typeface="Arial" pitchFamily="34" charset="-122"/>
                <a:cs typeface="Arial" pitchFamily="34" charset="-120"/>
              </a:rPr>
              <a:t>Firestore + Firebase Auth: SQLite fallback today</a:t>
            </a:r>
            <a:endParaRPr lang="en-US" sz="850" dirty="0"/>
          </a:p>
        </p:txBody>
      </p:sp>
      <p:sp>
        <p:nvSpPr>
          <p:cNvPr id="46" name="Shape 42"/>
          <p:cNvSpPr/>
          <p:nvPr/>
        </p:nvSpPr>
        <p:spPr>
          <a:xfrm>
            <a:off x="7662672" y="3995928"/>
            <a:ext cx="3931920" cy="1737360"/>
          </a:xfrm>
          <a:prstGeom prst="roundRect">
            <a:avLst>
              <a:gd name="adj" fmla="val 4211"/>
            </a:avLst>
          </a:prstGeom>
          <a:solidFill>
            <a:srgbClr val="FFFDF7"/>
          </a:solidFill>
          <a:ln w="9525">
            <a:solidFill>
              <a:srgbClr val="12796D"/>
            </a:solidFill>
            <a:prstDash val="solid"/>
          </a:ln>
        </p:spPr>
      </p:sp>
      <p:sp>
        <p:nvSpPr>
          <p:cNvPr id="47" name="Text 43"/>
          <p:cNvSpPr txBox="1"/>
          <p:nvPr/>
        </p:nvSpPr>
        <p:spPr>
          <a:xfrm>
            <a:off x="7955280" y="4224528"/>
            <a:ext cx="347472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REAL VS DEMO GATE</a:t>
            </a:r>
            <a:endParaRPr lang="en-US" sz="1200" dirty="0"/>
          </a:p>
        </p:txBody>
      </p:sp>
      <p:sp>
        <p:nvSpPr>
          <p:cNvPr id="48" name="Text 44"/>
          <p:cNvSpPr txBox="1"/>
          <p:nvPr/>
        </p:nvSpPr>
        <p:spPr>
          <a:xfrm>
            <a:off x="7955280" y="4645152"/>
            <a:ext cx="1005840" cy="310896"/>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Probed live</a:t>
            </a:r>
            <a:endParaRPr lang="en-US" sz="850" dirty="0"/>
          </a:p>
        </p:txBody>
      </p:sp>
      <p:sp>
        <p:nvSpPr>
          <p:cNvPr id="49" name="Text 45"/>
          <p:cNvSpPr txBox="1"/>
          <p:nvPr/>
        </p:nvSpPr>
        <p:spPr>
          <a:xfrm>
            <a:off x="9052560" y="464515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Each integration is tested with a real call before it is badged Live</a:t>
            </a:r>
            <a:endParaRPr lang="en-US" sz="850" dirty="0"/>
          </a:p>
        </p:txBody>
      </p:sp>
      <p:sp>
        <p:nvSpPr>
          <p:cNvPr id="50" name="Text 46"/>
          <p:cNvSpPr txBox="1"/>
          <p:nvPr/>
        </p:nvSpPr>
        <p:spPr>
          <a:xfrm>
            <a:off x="7955280" y="5010912"/>
            <a:ext cx="1005840" cy="310896"/>
          </a:xfrm>
          <a:prstGeom prst="rect">
            <a:avLst/>
          </a:prstGeom>
          <a:noFill/>
          <a:ln/>
        </p:spPr>
        <p:txBody>
          <a:bodyPr wrap="square" lIns="0" tIns="0" rIns="0" bIns="0" rtlCol="0" anchor="t">
            <a:normAutofit/>
          </a:bodyPr>
          <a:lstStyle/>
          <a:p>
            <a:pPr indent="0" marL="0">
              <a:buNone/>
            </a:pPr>
            <a:r>
              <a:rPr lang="en-US" sz="850" b="1" dirty="0">
                <a:solidFill>
                  <a:srgbClr val="E8694A"/>
                </a:solidFill>
                <a:latin typeface="Arial" pitchFamily="34" charset="0"/>
                <a:ea typeface="Arial" pitchFamily="34" charset="-122"/>
                <a:cs typeface="Arial" pitchFamily="34" charset="-120"/>
              </a:rPr>
              <a:t>Labelled sample</a:t>
            </a:r>
            <a:endParaRPr lang="en-US" sz="850" dirty="0"/>
          </a:p>
        </p:txBody>
      </p:sp>
      <p:sp>
        <p:nvSpPr>
          <p:cNvPr id="51" name="Text 47"/>
          <p:cNvSpPr txBox="1"/>
          <p:nvPr/>
        </p:nvSpPr>
        <p:spPr>
          <a:xfrm>
            <a:off x="9052560" y="501091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State exports, district indicators, sample leaf: synthetic in data + UI</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08 — RESPONSIBLE AI &amp; DATA</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Advice that shows its evidence and waits for a human.</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Gemini never invents measurements; the officer, not the model, releases consequential advice.</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Known gaps: no authentication yet (Firebase Auth planned); Hindi / Telugu strings need native-speaker review (README, Known gaps).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9</a:t>
            </a:r>
            <a:endParaRPr lang="en-US" sz="650" dirty="0"/>
          </a:p>
        </p:txBody>
      </p:sp>
      <p:sp>
        <p:nvSpPr>
          <p:cNvPr id="15" name="Shape 11"/>
          <p:cNvSpPr/>
          <p:nvPr/>
        </p:nvSpPr>
        <p:spPr>
          <a:xfrm>
            <a:off x="621792" y="1700784"/>
            <a:ext cx="5230368" cy="1856232"/>
          </a:xfrm>
          <a:prstGeom prst="roundRect">
            <a:avLst>
              <a:gd name="adj" fmla="val 3941"/>
            </a:avLst>
          </a:prstGeom>
          <a:solidFill>
            <a:srgbClr val="DCEEE8"/>
          </a:solidFill>
          <a:ln w="9525">
            <a:solidFill>
              <a:srgbClr val="12796D"/>
            </a:solidFill>
            <a:prstDash val="solid"/>
          </a:ln>
        </p:spPr>
      </p:sp>
      <p:sp>
        <p:nvSpPr>
          <p:cNvPr id="16" name="Shape 12"/>
          <p:cNvSpPr/>
          <p:nvPr/>
        </p:nvSpPr>
        <p:spPr>
          <a:xfrm>
            <a:off x="868680" y="1920240"/>
            <a:ext cx="1463040" cy="310896"/>
          </a:xfrm>
          <a:prstGeom prst="roundRect">
            <a:avLst>
              <a:gd name="adj" fmla="val 23529"/>
            </a:avLst>
          </a:prstGeom>
          <a:solidFill>
            <a:srgbClr val="12796D"/>
          </a:solidFill>
          <a:ln/>
        </p:spPr>
      </p:sp>
      <p:sp>
        <p:nvSpPr>
          <p:cNvPr id="17" name="Text 13"/>
          <p:cNvSpPr txBox="1"/>
          <p:nvPr/>
        </p:nvSpPr>
        <p:spPr>
          <a:xfrm>
            <a:off x="868680" y="1920240"/>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AI DRAFT</a:t>
            </a:r>
            <a:endParaRPr lang="en-US" sz="700" dirty="0"/>
          </a:p>
        </p:txBody>
      </p:sp>
      <p:sp>
        <p:nvSpPr>
          <p:cNvPr id="18" name="Shape 14"/>
          <p:cNvSpPr/>
          <p:nvPr/>
        </p:nvSpPr>
        <p:spPr>
          <a:xfrm>
            <a:off x="2468880" y="1920240"/>
            <a:ext cx="2651760" cy="310896"/>
          </a:xfrm>
          <a:prstGeom prst="roundRect">
            <a:avLst>
              <a:gd name="adj" fmla="val 23529"/>
            </a:avLst>
          </a:prstGeom>
          <a:solidFill>
            <a:srgbClr val="1B3149"/>
          </a:solidFill>
          <a:ln/>
        </p:spPr>
      </p:sp>
      <p:sp>
        <p:nvSpPr>
          <p:cNvPr id="19" name="Text 15"/>
          <p:cNvSpPr txBox="1"/>
          <p:nvPr/>
        </p:nvSpPr>
        <p:spPr>
          <a:xfrm>
            <a:off x="2468880" y="1920240"/>
            <a:ext cx="2651760" cy="310896"/>
          </a:xfrm>
          <a:prstGeom prst="rect">
            <a:avLst/>
          </a:prstGeom>
          <a:noFill/>
          <a:ln/>
        </p:spPr>
        <p:txBody>
          <a:bodyPr wrap="square" lIns="0" tIns="0" rIns="0" bIns="0" rtlCol="0" anchor="ctr"/>
          <a:lstStyle/>
          <a:p>
            <a:pPr algn="ctr" indent="0" marL="0">
              <a:buNone/>
            </a:pPr>
            <a:r>
              <a:rPr lang="en-US" sz="700" b="1" spc="50" kern="0" dirty="0">
                <a:solidFill>
                  <a:srgbClr val="DDE6EC"/>
                </a:solidFill>
                <a:latin typeface="Arial" pitchFamily="34" charset="0"/>
                <a:ea typeface="Arial" pitchFamily="34" charset="-122"/>
                <a:cs typeface="Arial" pitchFamily="34" charset="-120"/>
              </a:rPr>
              <a:t>AWAITING AGRICULTURE OFFICER REVIEW</a:t>
            </a:r>
            <a:endParaRPr lang="en-US" sz="700" dirty="0"/>
          </a:p>
        </p:txBody>
      </p:sp>
      <p:sp>
        <p:nvSpPr>
          <p:cNvPr id="20" name="Text 16"/>
          <p:cNvSpPr txBox="1"/>
          <p:nvPr/>
        </p:nvSpPr>
        <p:spPr>
          <a:xfrm>
            <a:off x="868680" y="251460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Evidence first</a:t>
            </a:r>
            <a:endParaRPr lang="en-US" sz="1050" dirty="0"/>
          </a:p>
        </p:txBody>
      </p:sp>
      <p:sp>
        <p:nvSpPr>
          <p:cNvPr id="21" name="Text 17"/>
          <p:cNvSpPr txBox="1"/>
          <p:nvPr/>
        </p:nvSpPr>
        <p:spPr>
          <a:xfrm>
            <a:off x="2057400" y="246888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Observed data, AI interpretation and action are separate fields, each citing its source.</a:t>
            </a:r>
            <a:endParaRPr lang="en-US" sz="1100" dirty="0"/>
          </a:p>
        </p:txBody>
      </p:sp>
      <p:sp>
        <p:nvSpPr>
          <p:cNvPr id="22" name="Text 18"/>
          <p:cNvSpPr txBox="1"/>
          <p:nvPr/>
        </p:nvSpPr>
        <p:spPr>
          <a:xfrm>
            <a:off x="868680" y="301752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Contestable</a:t>
            </a:r>
            <a:endParaRPr lang="en-US" sz="1050" dirty="0"/>
          </a:p>
        </p:txBody>
      </p:sp>
      <p:sp>
        <p:nvSpPr>
          <p:cNvPr id="23" name="Text 19"/>
          <p:cNvSpPr txBox="1"/>
          <p:nvPr/>
        </p:nvSpPr>
        <p:spPr>
          <a:xfrm>
            <a:off x="2057400" y="297180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The officer approves or rejects with a note; the farmer sees the status.</a:t>
            </a:r>
            <a:endParaRPr lang="en-US" sz="1100" dirty="0"/>
          </a:p>
        </p:txBody>
      </p:sp>
      <p:sp>
        <p:nvSpPr>
          <p:cNvPr id="24" name="Shape 20"/>
          <p:cNvSpPr/>
          <p:nvPr/>
        </p:nvSpPr>
        <p:spPr>
          <a:xfrm>
            <a:off x="621792" y="3840480"/>
            <a:ext cx="5230368" cy="1709928"/>
          </a:xfrm>
          <a:prstGeom prst="roundRect">
            <a:avLst>
              <a:gd name="adj" fmla="val 4278"/>
            </a:avLst>
          </a:prstGeom>
          <a:solidFill>
            <a:srgbClr val="FBE6DE"/>
          </a:solidFill>
          <a:ln w="9525">
            <a:solidFill>
              <a:srgbClr val="E8694A"/>
            </a:solidFill>
            <a:prstDash val="solid"/>
          </a:ln>
        </p:spPr>
      </p:sp>
      <p:sp>
        <p:nvSpPr>
          <p:cNvPr id="25" name="Shape 21"/>
          <p:cNvSpPr/>
          <p:nvPr/>
        </p:nvSpPr>
        <p:spPr>
          <a:xfrm>
            <a:off x="868680" y="4087368"/>
            <a:ext cx="1463040" cy="310896"/>
          </a:xfrm>
          <a:prstGeom prst="roundRect">
            <a:avLst>
              <a:gd name="adj" fmla="val 23529"/>
            </a:avLst>
          </a:prstGeom>
          <a:solidFill>
            <a:srgbClr val="E8694A"/>
          </a:solidFill>
          <a:ln/>
        </p:spPr>
      </p:sp>
      <p:sp>
        <p:nvSpPr>
          <p:cNvPr id="26" name="Text 22"/>
          <p:cNvSpPr txBox="1"/>
          <p:nvPr/>
        </p:nvSpPr>
        <p:spPr>
          <a:xfrm>
            <a:off x="868680" y="4087368"/>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DO NOT DO</a:t>
            </a:r>
            <a:endParaRPr lang="en-US" sz="700" dirty="0"/>
          </a:p>
        </p:txBody>
      </p:sp>
      <p:sp>
        <p:nvSpPr>
          <p:cNvPr id="27" name="Shape 23"/>
          <p:cNvSpPr/>
          <p:nvPr/>
        </p:nvSpPr>
        <p:spPr>
          <a:xfrm>
            <a:off x="914400" y="4617720"/>
            <a:ext cx="118872" cy="118872"/>
          </a:xfrm>
          <a:prstGeom prst="ellipse">
            <a:avLst/>
          </a:prstGeom>
          <a:solidFill>
            <a:srgbClr val="E8694A"/>
          </a:solidFill>
          <a:ln/>
        </p:spPr>
      </p:sp>
      <p:sp>
        <p:nvSpPr>
          <p:cNvPr id="28" name="Text 24"/>
          <p:cNvSpPr txBox="1"/>
          <p:nvPr/>
        </p:nvSpPr>
        <p:spPr>
          <a:xfrm>
            <a:off x="1170432" y="4572000"/>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Certified diagnosis or pesticide prescriptions</a:t>
            </a:r>
            <a:endParaRPr lang="en-US" sz="1050" dirty="0"/>
          </a:p>
        </p:txBody>
      </p:sp>
      <p:sp>
        <p:nvSpPr>
          <p:cNvPr id="29" name="Shape 25"/>
          <p:cNvSpPr/>
          <p:nvPr/>
        </p:nvSpPr>
        <p:spPr>
          <a:xfrm>
            <a:off x="914400" y="4919472"/>
            <a:ext cx="118872" cy="118872"/>
          </a:xfrm>
          <a:prstGeom prst="ellipse">
            <a:avLst/>
          </a:prstGeom>
          <a:solidFill>
            <a:srgbClr val="E8694A"/>
          </a:solidFill>
          <a:ln/>
        </p:spPr>
      </p:sp>
      <p:sp>
        <p:nvSpPr>
          <p:cNvPr id="30" name="Text 26"/>
          <p:cNvSpPr txBox="1"/>
          <p:nvPr/>
        </p:nvSpPr>
        <p:spPr>
          <a:xfrm>
            <a:off x="1170432" y="4873752"/>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Invent or impute missing measurements</a:t>
            </a:r>
            <a:endParaRPr lang="en-US" sz="1050" dirty="0"/>
          </a:p>
        </p:txBody>
      </p:sp>
      <p:sp>
        <p:nvSpPr>
          <p:cNvPr id="31" name="Shape 27"/>
          <p:cNvSpPr/>
          <p:nvPr/>
        </p:nvSpPr>
        <p:spPr>
          <a:xfrm>
            <a:off x="914400" y="5221224"/>
            <a:ext cx="118872" cy="118872"/>
          </a:xfrm>
          <a:prstGeom prst="ellipse">
            <a:avLst/>
          </a:prstGeom>
          <a:solidFill>
            <a:srgbClr val="E8694A"/>
          </a:solidFill>
          <a:ln/>
        </p:spPr>
      </p:sp>
      <p:sp>
        <p:nvSpPr>
          <p:cNvPr id="32" name="Text 28"/>
          <p:cNvSpPr txBox="1"/>
          <p:nvPr/>
        </p:nvSpPr>
        <p:spPr>
          <a:xfrm>
            <a:off x="1170432" y="5175504"/>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Collect identity documents or bank details</a:t>
            </a:r>
            <a:endParaRPr lang="en-US" sz="1050" dirty="0"/>
          </a:p>
        </p:txBody>
      </p:sp>
      <p:sp>
        <p:nvSpPr>
          <p:cNvPr id="33" name="Shape 29"/>
          <p:cNvSpPr/>
          <p:nvPr/>
        </p:nvSpPr>
        <p:spPr>
          <a:xfrm>
            <a:off x="6153912" y="1700784"/>
            <a:ext cx="5422392" cy="3849624"/>
          </a:xfrm>
          <a:prstGeom prst="roundRect">
            <a:avLst>
              <a:gd name="adj" fmla="val 1900"/>
            </a:avLst>
          </a:prstGeom>
          <a:solidFill>
            <a:srgbClr val="1B3149"/>
          </a:solidFill>
          <a:ln/>
        </p:spPr>
      </p:sp>
      <p:sp>
        <p:nvSpPr>
          <p:cNvPr id="34" name="Text 30"/>
          <p:cNvSpPr txBox="1"/>
          <p:nvPr/>
        </p:nvSpPr>
        <p:spPr>
          <a:xfrm>
            <a:off x="6464808" y="1938528"/>
            <a:ext cx="457200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SAFETY BY DESIGN</a:t>
            </a:r>
            <a:endParaRPr lang="en-US" sz="1500" dirty="0"/>
          </a:p>
        </p:txBody>
      </p:sp>
      <p:sp>
        <p:nvSpPr>
          <p:cNvPr id="35" name="Text 31"/>
          <p:cNvSpPr txBox="1"/>
          <p:nvPr/>
        </p:nvSpPr>
        <p:spPr>
          <a:xfrm>
            <a:off x="6464808" y="2514600"/>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GROUNDING</a:t>
            </a:r>
            <a:endParaRPr lang="en-US" sz="750" dirty="0"/>
          </a:p>
        </p:txBody>
      </p:sp>
      <p:sp>
        <p:nvSpPr>
          <p:cNvPr id="36" name="Text 32"/>
          <p:cNvSpPr txBox="1"/>
          <p:nvPr/>
        </p:nvSpPr>
        <p:spPr>
          <a:xfrm>
            <a:off x="7918704" y="248716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Structured field context only; validated JSON, else a rules fallback.</a:t>
            </a:r>
            <a:endParaRPr lang="en-US" sz="950" dirty="0"/>
          </a:p>
        </p:txBody>
      </p:sp>
      <p:sp>
        <p:nvSpPr>
          <p:cNvPr id="37" name="Text 33"/>
          <p:cNvSpPr txBox="1"/>
          <p:nvPr/>
        </p:nvSpPr>
        <p:spPr>
          <a:xfrm>
            <a:off x="6464808" y="3008376"/>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UNCERTAINTY</a:t>
            </a:r>
            <a:endParaRPr lang="en-US" sz="750" dirty="0"/>
          </a:p>
        </p:txBody>
      </p:sp>
      <p:sp>
        <p:nvSpPr>
          <p:cNvPr id="38" name="Text 34"/>
          <p:cNvSpPr txBox="1"/>
          <p:nvPr/>
        </p:nvSpPr>
        <p:spPr>
          <a:xfrm>
            <a:off x="7918704" y="2980944"/>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Confidence, missing information and data-age notes in every advisory.</a:t>
            </a:r>
            <a:endParaRPr lang="en-US" sz="950" dirty="0"/>
          </a:p>
        </p:txBody>
      </p:sp>
      <p:sp>
        <p:nvSpPr>
          <p:cNvPr id="39" name="Text 35"/>
          <p:cNvSpPr txBox="1"/>
          <p:nvPr/>
        </p:nvSpPr>
        <p:spPr>
          <a:xfrm>
            <a:off x="6464808" y="3502152"/>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CROP DOCTOR</a:t>
            </a:r>
            <a:endParaRPr lang="en-US" sz="750" dirty="0"/>
          </a:p>
        </p:txBody>
      </p:sp>
      <p:sp>
        <p:nvSpPr>
          <p:cNvPr id="40" name="Text 36"/>
          <p:cNvSpPr txBox="1"/>
          <p:nvPr/>
        </p:nvSpPr>
        <p:spPr>
          <a:xfrm>
            <a:off x="7918704" y="3474720"/>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“Potential condition” wording; low confidence or high severity → expert.</a:t>
            </a:r>
            <a:endParaRPr lang="en-US" sz="950" dirty="0"/>
          </a:p>
        </p:txBody>
      </p:sp>
      <p:sp>
        <p:nvSpPr>
          <p:cNvPr id="41" name="Text 37"/>
          <p:cNvSpPr txBox="1"/>
          <p:nvPr/>
        </p:nvSpPr>
        <p:spPr>
          <a:xfrm>
            <a:off x="6464808" y="3995928"/>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PROVENANCE</a:t>
            </a:r>
            <a:endParaRPr lang="en-US" sz="750" dirty="0"/>
          </a:p>
        </p:txBody>
      </p:sp>
      <p:sp>
        <p:nvSpPr>
          <p:cNvPr id="42" name="Text 38"/>
          <p:cNvSpPr txBox="1"/>
          <p:nvPr/>
        </p:nvSpPr>
        <p:spPr>
          <a:xfrm>
            <a:off x="7918704" y="3968496"/>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Source, timestamp and a Live / Sample badge on every data block.</a:t>
            </a:r>
            <a:endParaRPr lang="en-US" sz="950" dirty="0"/>
          </a:p>
        </p:txBody>
      </p:sp>
      <p:sp>
        <p:nvSpPr>
          <p:cNvPr id="43" name="Text 39"/>
          <p:cNvSpPr txBox="1"/>
          <p:nvPr/>
        </p:nvSpPr>
        <p:spPr>
          <a:xfrm>
            <a:off x="6464808" y="4489704"/>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TRACEABILITY</a:t>
            </a:r>
            <a:endParaRPr lang="en-US" sz="750" dirty="0"/>
          </a:p>
        </p:txBody>
      </p:sp>
      <p:sp>
        <p:nvSpPr>
          <p:cNvPr id="44" name="Text 40"/>
          <p:cNvSpPr txBox="1"/>
          <p:nvPr/>
        </p:nvSpPr>
        <p:spPr>
          <a:xfrm>
            <a:off x="7918704" y="4462272"/>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Each AI record stores model name, model version and prompt version.</a:t>
            </a:r>
            <a:endParaRPr lang="en-US" sz="950" dirty="0"/>
          </a:p>
        </p:txBody>
      </p:sp>
      <p:sp>
        <p:nvSpPr>
          <p:cNvPr id="45" name="Text 41"/>
          <p:cNvSpPr txBox="1"/>
          <p:nvPr/>
        </p:nvSpPr>
        <p:spPr>
          <a:xfrm>
            <a:off x="6464808" y="4983480"/>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SECURITY</a:t>
            </a:r>
            <a:endParaRPr lang="en-US" sz="750" dirty="0"/>
          </a:p>
        </p:txBody>
      </p:sp>
      <p:sp>
        <p:nvSpPr>
          <p:cNvPr id="46" name="Text 42"/>
          <p:cNvSpPr txBox="1"/>
          <p:nvPr/>
        </p:nvSpPr>
        <p:spPr>
          <a:xfrm>
            <a:off x="7918704" y="495604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Keys in Secret Manager; crop photos in a private bucket; no secrets in git.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09 — OUTCOMES, VALIDATION &amp; SCALE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Earn the right to scale: one district, then one state.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The first proof is not app usage; it is timelier, correct action on the field.</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Pilot design and measures are proposals to validate with a state partner; no field results exist yet. Scale path follows PRD §50 (district → state → national).</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10</a:t>
            </a:r>
            <a:endParaRPr lang="en-US" sz="650" dirty="0"/>
          </a:p>
        </p:txBody>
      </p:sp>
      <p:sp>
        <p:nvSpPr>
          <p:cNvPr id="15" name="Shape 11"/>
          <p:cNvSpPr/>
          <p:nvPr/>
        </p:nvSpPr>
        <p:spPr>
          <a:xfrm>
            <a:off x="621792" y="1737360"/>
            <a:ext cx="1673352" cy="1463040"/>
          </a:xfrm>
          <a:prstGeom prst="roundRect">
            <a:avLst>
              <a:gd name="adj" fmla="val 6250"/>
            </a:avLst>
          </a:prstGeom>
          <a:solidFill>
            <a:srgbClr val="FFFDF7"/>
          </a:solidFill>
          <a:ln w="9525">
            <a:solidFill>
              <a:srgbClr val="DCD5C5"/>
            </a:solidFill>
            <a:prstDash val="solid"/>
          </a:ln>
        </p:spPr>
      </p:sp>
      <p:sp>
        <p:nvSpPr>
          <p:cNvPr id="16" name="Text 12"/>
          <p:cNvSpPr txBox="1"/>
          <p:nvPr/>
        </p:nvSpPr>
        <p:spPr>
          <a:xfrm>
            <a:off x="75895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69494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TRUST</a:t>
            </a:r>
            <a:endParaRPr lang="en-US" sz="1050" dirty="0"/>
          </a:p>
        </p:txBody>
      </p:sp>
      <p:sp>
        <p:nvSpPr>
          <p:cNvPr id="18" name="Text 14"/>
          <p:cNvSpPr txBox="1"/>
          <p:nvPr/>
        </p:nvSpPr>
        <p:spPr>
          <a:xfrm>
            <a:off x="71323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Officers approve AI drafts with few edits</a:t>
            </a:r>
            <a:endParaRPr lang="en-US" sz="850" dirty="0"/>
          </a:p>
        </p:txBody>
      </p:sp>
      <p:sp>
        <p:nvSpPr>
          <p:cNvPr id="19" name="Text 15"/>
          <p:cNvSpPr txBox="1"/>
          <p:nvPr/>
        </p:nvSpPr>
        <p:spPr>
          <a:xfrm>
            <a:off x="229514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0" name="Shape 16"/>
          <p:cNvSpPr/>
          <p:nvPr/>
        </p:nvSpPr>
        <p:spPr>
          <a:xfrm>
            <a:off x="2542032" y="1737360"/>
            <a:ext cx="1673352" cy="1463040"/>
          </a:xfrm>
          <a:prstGeom prst="roundRect">
            <a:avLst>
              <a:gd name="adj" fmla="val 6250"/>
            </a:avLst>
          </a:prstGeom>
          <a:solidFill>
            <a:srgbClr val="FFFDF7"/>
          </a:solidFill>
          <a:ln w="9525">
            <a:solidFill>
              <a:srgbClr val="DCD5C5"/>
            </a:solidFill>
            <a:prstDash val="solid"/>
          </a:ln>
        </p:spPr>
      </p:sp>
      <p:sp>
        <p:nvSpPr>
          <p:cNvPr id="21" name="Text 17"/>
          <p:cNvSpPr txBox="1"/>
          <p:nvPr/>
        </p:nvSpPr>
        <p:spPr>
          <a:xfrm>
            <a:off x="267919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2" name="Text 18"/>
          <p:cNvSpPr txBox="1"/>
          <p:nvPr/>
        </p:nvSpPr>
        <p:spPr>
          <a:xfrm>
            <a:off x="261518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ACTION</a:t>
            </a:r>
            <a:endParaRPr lang="en-US" sz="1050" dirty="0"/>
          </a:p>
        </p:txBody>
      </p:sp>
      <p:sp>
        <p:nvSpPr>
          <p:cNvPr id="23" name="Text 19"/>
          <p:cNvSpPr txBox="1"/>
          <p:nvPr/>
        </p:nvSpPr>
        <p:spPr>
          <a:xfrm>
            <a:off x="263347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Farmers act within the advised window</a:t>
            </a:r>
            <a:endParaRPr lang="en-US" sz="850" dirty="0"/>
          </a:p>
        </p:txBody>
      </p:sp>
      <p:sp>
        <p:nvSpPr>
          <p:cNvPr id="24" name="Text 20"/>
          <p:cNvSpPr txBox="1"/>
          <p:nvPr/>
        </p:nvSpPr>
        <p:spPr>
          <a:xfrm>
            <a:off x="421538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5" name="Shape 21"/>
          <p:cNvSpPr/>
          <p:nvPr/>
        </p:nvSpPr>
        <p:spPr>
          <a:xfrm>
            <a:off x="4462272" y="1737360"/>
            <a:ext cx="1673352" cy="1463040"/>
          </a:xfrm>
          <a:prstGeom prst="roundRect">
            <a:avLst>
              <a:gd name="adj" fmla="val 6250"/>
            </a:avLst>
          </a:prstGeom>
          <a:solidFill>
            <a:srgbClr val="DCEEE8"/>
          </a:solidFill>
          <a:ln w="9525">
            <a:solidFill>
              <a:srgbClr val="12796D"/>
            </a:solidFill>
            <a:prstDash val="solid"/>
          </a:ln>
        </p:spPr>
      </p:sp>
      <p:sp>
        <p:nvSpPr>
          <p:cNvPr id="26" name="Text 22"/>
          <p:cNvSpPr txBox="1"/>
          <p:nvPr/>
        </p:nvSpPr>
        <p:spPr>
          <a:xfrm>
            <a:off x="459943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7" name="Text 23"/>
          <p:cNvSpPr txBox="1"/>
          <p:nvPr/>
        </p:nvSpPr>
        <p:spPr>
          <a:xfrm>
            <a:off x="453542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TIMELINESS</a:t>
            </a:r>
            <a:endParaRPr lang="en-US" sz="1050" dirty="0"/>
          </a:p>
        </p:txBody>
      </p:sp>
      <p:sp>
        <p:nvSpPr>
          <p:cNvPr id="28" name="Text 24"/>
          <p:cNvSpPr txBox="1"/>
          <p:nvPr/>
        </p:nvSpPr>
        <p:spPr>
          <a:xfrm>
            <a:off x="455371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Earlier disease and irrigation response</a:t>
            </a:r>
            <a:endParaRPr lang="en-US" sz="850" dirty="0"/>
          </a:p>
        </p:txBody>
      </p:sp>
      <p:sp>
        <p:nvSpPr>
          <p:cNvPr id="29" name="Text 25"/>
          <p:cNvSpPr txBox="1"/>
          <p:nvPr/>
        </p:nvSpPr>
        <p:spPr>
          <a:xfrm>
            <a:off x="613562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30" name="Shape 26"/>
          <p:cNvSpPr/>
          <p:nvPr/>
        </p:nvSpPr>
        <p:spPr>
          <a:xfrm>
            <a:off x="6382512" y="1737360"/>
            <a:ext cx="1673352" cy="1463040"/>
          </a:xfrm>
          <a:prstGeom prst="roundRect">
            <a:avLst>
              <a:gd name="adj" fmla="val 6250"/>
            </a:avLst>
          </a:prstGeom>
          <a:solidFill>
            <a:srgbClr val="FFFDF7"/>
          </a:solidFill>
          <a:ln w="9525">
            <a:solidFill>
              <a:srgbClr val="DCD5C5"/>
            </a:solidFill>
            <a:prstDash val="solid"/>
          </a:ln>
        </p:spPr>
      </p:sp>
      <p:sp>
        <p:nvSpPr>
          <p:cNvPr id="31" name="Text 27"/>
          <p:cNvSpPr txBox="1"/>
          <p:nvPr/>
        </p:nvSpPr>
        <p:spPr>
          <a:xfrm>
            <a:off x="651967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32" name="Text 28"/>
          <p:cNvSpPr txBox="1"/>
          <p:nvPr/>
        </p:nvSpPr>
        <p:spPr>
          <a:xfrm>
            <a:off x="645566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OUTCOME</a:t>
            </a:r>
            <a:endParaRPr lang="en-US" sz="1050" dirty="0"/>
          </a:p>
        </p:txBody>
      </p:sp>
      <p:sp>
        <p:nvSpPr>
          <p:cNvPr id="33" name="Text 29"/>
          <p:cNvSpPr txBox="1"/>
          <p:nvPr/>
        </p:nvSpPr>
        <p:spPr>
          <a:xfrm>
            <a:off x="647395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Water use, crop loss, soil health improve</a:t>
            </a:r>
            <a:endParaRPr lang="en-US" sz="850" dirty="0"/>
          </a:p>
        </p:txBody>
      </p:sp>
      <p:sp>
        <p:nvSpPr>
          <p:cNvPr id="34" name="Shape 30"/>
          <p:cNvSpPr/>
          <p:nvPr/>
        </p:nvSpPr>
        <p:spPr>
          <a:xfrm>
            <a:off x="8366760" y="1737360"/>
            <a:ext cx="3227832" cy="1463040"/>
          </a:xfrm>
          <a:prstGeom prst="roundRect">
            <a:avLst>
              <a:gd name="adj" fmla="val 5000"/>
            </a:avLst>
          </a:prstGeom>
          <a:solidFill>
            <a:srgbClr val="1B3149"/>
          </a:solidFill>
          <a:ln/>
        </p:spPr>
      </p:sp>
      <p:sp>
        <p:nvSpPr>
          <p:cNvPr id="35" name="Text 31"/>
          <p:cNvSpPr txBox="1"/>
          <p:nvPr/>
        </p:nvSpPr>
        <p:spPr>
          <a:xfrm>
            <a:off x="8622792" y="1956816"/>
            <a:ext cx="2743200" cy="137160"/>
          </a:xfrm>
          <a:prstGeom prst="rect">
            <a:avLst/>
          </a:prstGeom>
          <a:noFill/>
          <a:ln/>
        </p:spPr>
        <p:txBody>
          <a:bodyPr wrap="square" lIns="0" tIns="0" rIns="0" bIns="0" rtlCol="0" anchor="t"/>
          <a:lstStyle/>
          <a:p>
            <a:pPr indent="0" marL="0">
              <a:buNone/>
            </a:pPr>
            <a:r>
              <a:rPr lang="en-US" sz="750" b="1" dirty="0">
                <a:solidFill>
                  <a:srgbClr val="9ED8CC"/>
                </a:solidFill>
                <a:latin typeface="Arial" pitchFamily="34" charset="0"/>
                <a:ea typeface="Arial" pitchFamily="34" charset="-122"/>
                <a:cs typeface="Arial" pitchFamily="34" charset="-120"/>
              </a:rPr>
              <a:t>MEASURE WITH</a:t>
            </a:r>
            <a:endParaRPr lang="en-US" sz="750" dirty="0"/>
          </a:p>
        </p:txBody>
      </p:sp>
      <p:sp>
        <p:nvSpPr>
          <p:cNvPr id="36" name="Text 32"/>
          <p:cNvSpPr txBox="1"/>
          <p:nvPr/>
        </p:nvSpPr>
        <p:spPr>
          <a:xfrm>
            <a:off x="8622792" y="2240280"/>
            <a:ext cx="2788920" cy="868680"/>
          </a:xfrm>
          <a:prstGeom prst="rect">
            <a:avLst/>
          </a:prstGeom>
          <a:noFill/>
          <a:ln/>
        </p:spPr>
        <p:txBody>
          <a:bodyPr wrap="square" lIns="0" tIns="0" rIns="0" bIns="0"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Officer approve / edit / reject rate</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Crop Doctor vs KVK-confirmed cases</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Advisory follow-up by farmers</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PRD §49.2 impact indicators</a:t>
            </a:r>
            <a:endParaRPr lang="en-US" sz="950" dirty="0"/>
          </a:p>
        </p:txBody>
      </p:sp>
      <p:sp>
        <p:nvSpPr>
          <p:cNvPr id="37" name="Text 33"/>
          <p:cNvSpPr txBox="1"/>
          <p:nvPr/>
        </p:nvSpPr>
        <p:spPr>
          <a:xfrm>
            <a:off x="640080" y="367588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VALIDATION GATES</a:t>
            </a:r>
            <a:endParaRPr lang="en-US" sz="800" dirty="0"/>
          </a:p>
        </p:txBody>
      </p:sp>
      <p:sp>
        <p:nvSpPr>
          <p:cNvPr id="38" name="Shape 34"/>
          <p:cNvSpPr/>
          <p:nvPr/>
        </p:nvSpPr>
        <p:spPr>
          <a:xfrm>
            <a:off x="640080" y="4005072"/>
            <a:ext cx="2286000" cy="1051560"/>
          </a:xfrm>
          <a:prstGeom prst="roundRect">
            <a:avLst>
              <a:gd name="adj" fmla="val 6957"/>
            </a:avLst>
          </a:prstGeom>
          <a:solidFill>
            <a:srgbClr val="FFFDF7"/>
          </a:solidFill>
          <a:ln w="9525">
            <a:solidFill>
              <a:srgbClr val="DCD5C5"/>
            </a:solidFill>
            <a:prstDash val="solid"/>
          </a:ln>
        </p:spPr>
      </p:sp>
      <p:sp>
        <p:nvSpPr>
          <p:cNvPr id="39" name="Shape 35"/>
          <p:cNvSpPr/>
          <p:nvPr/>
        </p:nvSpPr>
        <p:spPr>
          <a:xfrm>
            <a:off x="768096" y="4160520"/>
            <a:ext cx="393192" cy="393192"/>
          </a:xfrm>
          <a:prstGeom prst="ellipse">
            <a:avLst/>
          </a:prstGeom>
          <a:solidFill>
            <a:srgbClr val="12796D"/>
          </a:solidFill>
          <a:ln/>
        </p:spPr>
      </p:sp>
      <p:sp>
        <p:nvSpPr>
          <p:cNvPr id="40" name="Text 36"/>
          <p:cNvSpPr txBox="1"/>
          <p:nvPr/>
        </p:nvSpPr>
        <p:spPr>
          <a:xfrm>
            <a:off x="7680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1" name="Text 37"/>
          <p:cNvSpPr txBox="1"/>
          <p:nvPr/>
        </p:nvSpPr>
        <p:spPr>
          <a:xfrm>
            <a:off x="12801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DISTRICT PILOT</a:t>
            </a:r>
            <a:endParaRPr lang="en-US" sz="850" dirty="0"/>
          </a:p>
        </p:txBody>
      </p:sp>
      <p:sp>
        <p:nvSpPr>
          <p:cNvPr id="42" name="Text 38"/>
          <p:cNvSpPr txBox="1"/>
          <p:nvPr/>
        </p:nvSpPr>
        <p:spPr>
          <a:xfrm>
            <a:off x="12801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One district, e.g. Anantapur, KVK-linked blocks vs matched blocks</a:t>
            </a:r>
            <a:endParaRPr lang="en-US" sz="800" dirty="0"/>
          </a:p>
        </p:txBody>
      </p:sp>
      <p:sp>
        <p:nvSpPr>
          <p:cNvPr id="43" name="Shape 39"/>
          <p:cNvSpPr/>
          <p:nvPr/>
        </p:nvSpPr>
        <p:spPr>
          <a:xfrm>
            <a:off x="3154680" y="4005072"/>
            <a:ext cx="2286000" cy="1051560"/>
          </a:xfrm>
          <a:prstGeom prst="roundRect">
            <a:avLst>
              <a:gd name="adj" fmla="val 6957"/>
            </a:avLst>
          </a:prstGeom>
          <a:solidFill>
            <a:srgbClr val="FFFDF7"/>
          </a:solidFill>
          <a:ln w="9525">
            <a:solidFill>
              <a:srgbClr val="DCD5C5"/>
            </a:solidFill>
            <a:prstDash val="solid"/>
          </a:ln>
        </p:spPr>
      </p:sp>
      <p:sp>
        <p:nvSpPr>
          <p:cNvPr id="44" name="Shape 40"/>
          <p:cNvSpPr/>
          <p:nvPr/>
        </p:nvSpPr>
        <p:spPr>
          <a:xfrm>
            <a:off x="3282696" y="4160520"/>
            <a:ext cx="393192" cy="393192"/>
          </a:xfrm>
          <a:prstGeom prst="ellipse">
            <a:avLst/>
          </a:prstGeom>
          <a:solidFill>
            <a:srgbClr val="12796D"/>
          </a:solidFill>
          <a:ln/>
        </p:spPr>
      </p:sp>
      <p:sp>
        <p:nvSpPr>
          <p:cNvPr id="45" name="Text 41"/>
          <p:cNvSpPr txBox="1"/>
          <p:nvPr/>
        </p:nvSpPr>
        <p:spPr>
          <a:xfrm>
            <a:off x="32826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6" name="Text 42"/>
          <p:cNvSpPr txBox="1"/>
          <p:nvPr/>
        </p:nvSpPr>
        <p:spPr>
          <a:xfrm>
            <a:off x="37947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REAL FEEDS</a:t>
            </a:r>
            <a:endParaRPr lang="en-US" sz="850" dirty="0"/>
          </a:p>
        </p:txBody>
      </p:sp>
      <p:sp>
        <p:nvSpPr>
          <p:cNvPr id="47" name="Text 43"/>
          <p:cNvSpPr txBox="1"/>
          <p:nvPr/>
        </p:nvSpPr>
        <p:spPr>
          <a:xfrm>
            <a:off x="37947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Swap sample exports for state soil card / crop-booking feeds via adapter</a:t>
            </a:r>
            <a:endParaRPr lang="en-US" sz="800" dirty="0"/>
          </a:p>
        </p:txBody>
      </p:sp>
      <p:sp>
        <p:nvSpPr>
          <p:cNvPr id="48" name="Shape 44"/>
          <p:cNvSpPr/>
          <p:nvPr/>
        </p:nvSpPr>
        <p:spPr>
          <a:xfrm>
            <a:off x="5669280" y="4005072"/>
            <a:ext cx="2286000" cy="1051560"/>
          </a:xfrm>
          <a:prstGeom prst="roundRect">
            <a:avLst>
              <a:gd name="adj" fmla="val 6957"/>
            </a:avLst>
          </a:prstGeom>
          <a:solidFill>
            <a:srgbClr val="FFFDF7"/>
          </a:solidFill>
          <a:ln w="9525">
            <a:solidFill>
              <a:srgbClr val="DCD5C5"/>
            </a:solidFill>
            <a:prstDash val="solid"/>
          </a:ln>
        </p:spPr>
      </p:sp>
      <p:sp>
        <p:nvSpPr>
          <p:cNvPr id="49" name="Shape 45"/>
          <p:cNvSpPr/>
          <p:nvPr/>
        </p:nvSpPr>
        <p:spPr>
          <a:xfrm>
            <a:off x="5797296" y="4160520"/>
            <a:ext cx="393192" cy="393192"/>
          </a:xfrm>
          <a:prstGeom prst="ellipse">
            <a:avLst/>
          </a:prstGeom>
          <a:solidFill>
            <a:srgbClr val="E8694A"/>
          </a:solidFill>
          <a:ln/>
        </p:spPr>
      </p:sp>
      <p:sp>
        <p:nvSpPr>
          <p:cNvPr id="50" name="Text 46"/>
          <p:cNvSpPr txBox="1"/>
          <p:nvPr/>
        </p:nvSpPr>
        <p:spPr>
          <a:xfrm>
            <a:off x="57972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1" name="Text 47"/>
          <p:cNvSpPr txBox="1"/>
          <p:nvPr/>
        </p:nvSpPr>
        <p:spPr>
          <a:xfrm>
            <a:off x="63093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CLAIM CAREFULLY</a:t>
            </a:r>
            <a:endParaRPr lang="en-US" sz="850" dirty="0"/>
          </a:p>
        </p:txBody>
      </p:sp>
      <p:sp>
        <p:nvSpPr>
          <p:cNvPr id="52" name="Text 48"/>
          <p:cNvSpPr txBox="1"/>
          <p:nvPr/>
        </p:nvSpPr>
        <p:spPr>
          <a:xfrm>
            <a:off x="63093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Measure diagnosis accuracy vs KVK labels before any scale claim</a:t>
            </a:r>
            <a:endParaRPr lang="en-US" sz="800" dirty="0"/>
          </a:p>
        </p:txBody>
      </p:sp>
      <p:sp>
        <p:nvSpPr>
          <p:cNvPr id="53" name="Shape 49"/>
          <p:cNvSpPr/>
          <p:nvPr/>
        </p:nvSpPr>
        <p:spPr>
          <a:xfrm>
            <a:off x="658368" y="5431536"/>
            <a:ext cx="1078992" cy="310896"/>
          </a:xfrm>
          <a:prstGeom prst="roundRect">
            <a:avLst>
              <a:gd name="adj" fmla="val 23529"/>
            </a:avLst>
          </a:prstGeom>
          <a:solidFill>
            <a:srgbClr val="E8694A"/>
          </a:solidFill>
          <a:ln/>
        </p:spPr>
      </p:sp>
      <p:sp>
        <p:nvSpPr>
          <p:cNvPr id="54" name="Text 50"/>
          <p:cNvSpPr txBox="1"/>
          <p:nvPr/>
        </p:nvSpPr>
        <p:spPr>
          <a:xfrm>
            <a:off x="658368" y="5431536"/>
            <a:ext cx="107899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BUDGET ROUTE</a:t>
            </a:r>
            <a:endParaRPr lang="en-US" sz="700" dirty="0"/>
          </a:p>
        </p:txBody>
      </p:sp>
      <p:sp>
        <p:nvSpPr>
          <p:cNvPr id="55" name="Text 51"/>
          <p:cNvSpPr txBox="1"/>
          <p:nvPr/>
        </p:nvSpPr>
        <p:spPr>
          <a:xfrm>
            <a:off x="1901952" y="5358384"/>
            <a:ext cx="6035040" cy="457200"/>
          </a:xfrm>
          <a:prstGeom prst="rect">
            <a:avLst/>
          </a:prstGeom>
          <a:noFill/>
          <a:ln/>
        </p:spPr>
        <p:txBody>
          <a:bodyPr wrap="square" lIns="0" tIns="0" rIns="0" bIns="0" rtlCol="0" anchor="ctr">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Candidate route: Digital Agriculture Mission (₹2,817 cr, Krishi DSS component) with state co-funding; to confirm with the department. [2]</a:t>
            </a:r>
            <a:endParaRPr lang="en-US" sz="1100" dirty="0"/>
          </a:p>
        </p:txBody>
      </p:sp>
      <p:sp>
        <p:nvSpPr>
          <p:cNvPr id="56" name="Shape 52"/>
          <p:cNvSpPr/>
          <p:nvPr/>
        </p:nvSpPr>
        <p:spPr>
          <a:xfrm>
            <a:off x="8366760" y="3657600"/>
            <a:ext cx="3227832" cy="1993392"/>
          </a:xfrm>
          <a:prstGeom prst="roundRect">
            <a:avLst>
              <a:gd name="adj" fmla="val 3670"/>
            </a:avLst>
          </a:prstGeom>
          <a:solidFill>
            <a:srgbClr val="DCEEE8"/>
          </a:solidFill>
          <a:ln w="9525">
            <a:solidFill>
              <a:srgbClr val="12796D"/>
            </a:solidFill>
            <a:prstDash val="solid"/>
          </a:ln>
        </p:spPr>
      </p:sp>
      <p:sp>
        <p:nvSpPr>
          <p:cNvPr id="57" name="Text 53"/>
          <p:cNvSpPr txBox="1"/>
          <p:nvPr/>
        </p:nvSpPr>
        <p:spPr>
          <a:xfrm>
            <a:off x="8622792" y="3867912"/>
            <a:ext cx="274320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OWNERSHIP + SCALE</a:t>
            </a:r>
            <a:endParaRPr lang="en-US" sz="1200" dirty="0"/>
          </a:p>
        </p:txBody>
      </p:sp>
      <p:sp>
        <p:nvSpPr>
          <p:cNvPr id="58" name="Text 54"/>
          <p:cNvSpPr txBox="1"/>
          <p:nvPr/>
        </p:nvSpPr>
        <p:spPr>
          <a:xfrm>
            <a:off x="8622792" y="4343400"/>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Owner</a:t>
            </a:r>
            <a:endParaRPr lang="en-US" sz="850" dirty="0"/>
          </a:p>
        </p:txBody>
      </p:sp>
      <p:sp>
        <p:nvSpPr>
          <p:cNvPr id="59" name="Text 55"/>
          <p:cNvSpPr txBox="1"/>
          <p:nvPr/>
        </p:nvSpPr>
        <p:spPr>
          <a:xfrm>
            <a:off x="9418320" y="4315968"/>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State Department of Agriculture</a:t>
            </a:r>
            <a:endParaRPr lang="en-US" sz="850" dirty="0"/>
          </a:p>
        </p:txBody>
      </p:sp>
      <p:sp>
        <p:nvSpPr>
          <p:cNvPr id="60" name="Text 56"/>
          <p:cNvSpPr txBox="1"/>
          <p:nvPr/>
        </p:nvSpPr>
        <p:spPr>
          <a:xfrm>
            <a:off x="8622792" y="4773168"/>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Channel</a:t>
            </a:r>
            <a:endParaRPr lang="en-US" sz="850" dirty="0"/>
          </a:p>
        </p:txBody>
      </p:sp>
      <p:sp>
        <p:nvSpPr>
          <p:cNvPr id="61" name="Text 57"/>
          <p:cNvSpPr txBox="1"/>
          <p:nvPr/>
        </p:nvSpPr>
        <p:spPr>
          <a:xfrm>
            <a:off x="9418320" y="4745736"/>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Agriculture Officers + KVKs + agromet units</a:t>
            </a:r>
            <a:endParaRPr lang="en-US" sz="850" dirty="0"/>
          </a:p>
        </p:txBody>
      </p:sp>
      <p:sp>
        <p:nvSpPr>
          <p:cNvPr id="62" name="Text 58"/>
          <p:cNvSpPr txBox="1"/>
          <p:nvPr/>
        </p:nvSpPr>
        <p:spPr>
          <a:xfrm>
            <a:off x="8622792" y="5202936"/>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Gate</a:t>
            </a:r>
            <a:endParaRPr lang="en-US" sz="850" dirty="0"/>
          </a:p>
        </p:txBody>
      </p:sp>
      <p:sp>
        <p:nvSpPr>
          <p:cNvPr id="63" name="Text 59"/>
          <p:cNvSpPr txBox="1"/>
          <p:nvPr/>
        </p:nvSpPr>
        <p:spPr>
          <a:xfrm>
            <a:off x="9418320" y="5175504"/>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Data-sharing MoU • language QA • accuracy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10 — LIVE PROTOTYPE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Working today, end to end, on Google Cloud.</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Real screenshots from the running prototype, 30 Sep 2026: sample farmer, live Gemini, weather and NDVI.</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11</a:t>
            </a:r>
            <a:endParaRPr lang="en-US" sz="650" dirty="0"/>
          </a:p>
        </p:txBody>
      </p:sp>
      <p:sp>
        <p:nvSpPr>
          <p:cNvPr id="14" name="Shape 10"/>
          <p:cNvSpPr/>
          <p:nvPr/>
        </p:nvSpPr>
        <p:spPr>
          <a:xfrm>
            <a:off x="621792" y="1700784"/>
            <a:ext cx="2788920" cy="2331720"/>
          </a:xfrm>
          <a:prstGeom prst="roundRect">
            <a:avLst>
              <a:gd name="adj" fmla="val 2353"/>
            </a:avLst>
          </a:prstGeom>
          <a:solidFill>
            <a:srgbClr val="FFFFFF"/>
          </a:solidFill>
          <a:ln w="9525">
            <a:solidFill>
              <a:srgbClr val="DCD5C5"/>
            </a:solidFill>
            <a:prstDash val="solid"/>
          </a:ln>
        </p:spPr>
      </p:sp>
      <p:pic>
        <p:nvPicPr>
          <p:cNvPr id="15" name="Image 1" descr="/Users/pavan/Documents/Code/Build_with_AI/agri-ai-network/docs/pitch/assets/farmer-app.png">    </p:cNvPr>
          <p:cNvPicPr>
            <a:picLocks noChangeAspect="1"/>
          </p:cNvPicPr>
          <p:nvPr/>
        </p:nvPicPr>
        <p:blipFill>
          <a:blip r:embed="rId2"/>
          <a:srcRect l="0" r="0" t="0" b="0"/>
          <a:stretch/>
        </p:blipFill>
        <p:spPr>
          <a:xfrm>
            <a:off x="676656" y="1755648"/>
            <a:ext cx="2679192" cy="1920240"/>
          </a:xfrm>
          <a:prstGeom prst="rect">
            <a:avLst/>
          </a:prstGeom>
        </p:spPr>
      </p:pic>
      <p:sp>
        <p:nvSpPr>
          <p:cNvPr id="16" name="Text 11"/>
          <p:cNvSpPr txBox="1"/>
          <p:nvPr/>
        </p:nvSpPr>
        <p:spPr>
          <a:xfrm>
            <a:off x="7315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Farmer app: Farm Health + live data</a:t>
            </a:r>
            <a:endParaRPr lang="en-US" sz="900" dirty="0"/>
          </a:p>
        </p:txBody>
      </p:sp>
      <p:sp>
        <p:nvSpPr>
          <p:cNvPr id="17" name="Shape 12"/>
          <p:cNvSpPr/>
          <p:nvPr/>
        </p:nvSpPr>
        <p:spPr>
          <a:xfrm>
            <a:off x="3593592" y="1700784"/>
            <a:ext cx="2788920" cy="2331720"/>
          </a:xfrm>
          <a:prstGeom prst="roundRect">
            <a:avLst>
              <a:gd name="adj" fmla="val 2353"/>
            </a:avLst>
          </a:prstGeom>
          <a:solidFill>
            <a:srgbClr val="FFFFFF"/>
          </a:solidFill>
          <a:ln w="9525">
            <a:solidFill>
              <a:srgbClr val="DCD5C5"/>
            </a:solidFill>
            <a:prstDash val="solid"/>
          </a:ln>
        </p:spPr>
      </p:sp>
      <p:pic>
        <p:nvPicPr>
          <p:cNvPr id="18" name="Image 2" descr="/Users/pavan/Documents/Code/Build_with_AI/agri-ai-network/docs/pitch/assets/officer-dashboard.png">    </p:cNvPr>
          <p:cNvPicPr>
            <a:picLocks noChangeAspect="1"/>
          </p:cNvPicPr>
          <p:nvPr/>
        </p:nvPicPr>
        <p:blipFill>
          <a:blip r:embed="rId3"/>
          <a:srcRect l="0" r="0" t="0" b="0"/>
          <a:stretch/>
        </p:blipFill>
        <p:spPr>
          <a:xfrm>
            <a:off x="3648456" y="1755648"/>
            <a:ext cx="2679192" cy="1920240"/>
          </a:xfrm>
          <a:prstGeom prst="rect">
            <a:avLst/>
          </a:prstGeom>
        </p:spPr>
      </p:pic>
      <p:sp>
        <p:nvSpPr>
          <p:cNvPr id="19" name="Text 13"/>
          <p:cNvSpPr txBox="1"/>
          <p:nvPr/>
        </p:nvSpPr>
        <p:spPr>
          <a:xfrm>
            <a:off x="37033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Officer: AP district risk (synthetic)</a:t>
            </a:r>
            <a:endParaRPr lang="en-US" sz="900" dirty="0"/>
          </a:p>
        </p:txBody>
      </p:sp>
      <p:sp>
        <p:nvSpPr>
          <p:cNvPr id="20" name="Shape 14"/>
          <p:cNvSpPr/>
          <p:nvPr/>
        </p:nvSpPr>
        <p:spPr>
          <a:xfrm>
            <a:off x="621792" y="4297680"/>
            <a:ext cx="5760720" cy="1755648"/>
          </a:xfrm>
          <a:prstGeom prst="roundRect">
            <a:avLst>
              <a:gd name="adj" fmla="val 4167"/>
            </a:avLst>
          </a:prstGeom>
          <a:solidFill>
            <a:srgbClr val="1B3149"/>
          </a:solidFill>
          <a:ln/>
        </p:spPr>
      </p:sp>
      <p:sp>
        <p:nvSpPr>
          <p:cNvPr id="21" name="Text 15"/>
          <p:cNvSpPr txBox="1"/>
          <p:nvPr/>
        </p:nvSpPr>
        <p:spPr>
          <a:xfrm>
            <a:off x="896112" y="4480560"/>
            <a:ext cx="4572000" cy="182880"/>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TRY IT</a:t>
            </a:r>
            <a:endParaRPr lang="en-US" sz="850" dirty="0"/>
          </a:p>
        </p:txBody>
      </p:sp>
      <p:sp>
        <p:nvSpPr>
          <p:cNvPr id="22" name="Text 16"/>
          <p:cNvSpPr txBox="1"/>
          <p:nvPr/>
        </p:nvSpPr>
        <p:spPr>
          <a:xfrm>
            <a:off x="896112" y="4773168"/>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Farmer app</a:t>
            </a:r>
            <a:endParaRPr lang="en-US" sz="850" dirty="0"/>
          </a:p>
        </p:txBody>
      </p:sp>
      <p:sp>
        <p:nvSpPr>
          <p:cNvPr id="23" name="Text 17">
            <a:hlinkClick r:id="rId4" tooltip=""/>
          </p:cNvPr>
          <p:cNvSpPr txBox="1"/>
          <p:nvPr/>
        </p:nvSpPr>
        <p:spPr>
          <a:xfrm>
            <a:off x="2377440" y="4773168"/>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https://agri-ai-network-farmer-web-847963771142.asia-south1.run.app</a:t>
            </a:r>
            <a:endParaRPr lang="en-US" sz="850" dirty="0"/>
          </a:p>
        </p:txBody>
      </p:sp>
      <p:sp>
        <p:nvSpPr>
          <p:cNvPr id="24" name="Text 18"/>
          <p:cNvSpPr txBox="1"/>
          <p:nvPr/>
        </p:nvSpPr>
        <p:spPr>
          <a:xfrm>
            <a:off x="896112" y="5065776"/>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Officer dashboard</a:t>
            </a:r>
            <a:endParaRPr lang="en-US" sz="850" dirty="0"/>
          </a:p>
        </p:txBody>
      </p:sp>
      <p:sp>
        <p:nvSpPr>
          <p:cNvPr id="25" name="Text 19">
            <a:hlinkClick r:id="rId5" tooltip=""/>
          </p:cNvPr>
          <p:cNvSpPr txBox="1"/>
          <p:nvPr/>
        </p:nvSpPr>
        <p:spPr>
          <a:xfrm>
            <a:off x="2377440" y="5065776"/>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https://agri-ai-network-officer-dashboard-847963771142.asia-south1.run.app</a:t>
            </a:r>
            <a:endParaRPr lang="en-US" sz="850" dirty="0"/>
          </a:p>
        </p:txBody>
      </p:sp>
      <p:sp>
        <p:nvSpPr>
          <p:cNvPr id="26" name="Text 20"/>
          <p:cNvSpPr txBox="1"/>
          <p:nvPr/>
        </p:nvSpPr>
        <p:spPr>
          <a:xfrm>
            <a:off x="896112" y="5358384"/>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API (+ /docs)</a:t>
            </a:r>
            <a:endParaRPr lang="en-US" sz="850" dirty="0"/>
          </a:p>
        </p:txBody>
      </p:sp>
      <p:sp>
        <p:nvSpPr>
          <p:cNvPr id="27" name="Text 21">
            <a:hlinkClick r:id="rId6" tooltip=""/>
          </p:cNvPr>
          <p:cNvSpPr txBox="1"/>
          <p:nvPr/>
        </p:nvSpPr>
        <p:spPr>
          <a:xfrm>
            <a:off x="2377440" y="5358384"/>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https://agri-ai-network-api-847963771142.asia-south1.run.app</a:t>
            </a:r>
            <a:endParaRPr lang="en-US" sz="850" dirty="0"/>
          </a:p>
        </p:txBody>
      </p:sp>
      <p:sp>
        <p:nvSpPr>
          <p:cNvPr id="28" name="Text 22"/>
          <p:cNvSpPr txBox="1"/>
          <p:nvPr/>
        </p:nvSpPr>
        <p:spPr>
          <a:xfrm>
            <a:off x="896112" y="5650992"/>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Source</a:t>
            </a:r>
            <a:endParaRPr lang="en-US" sz="850" dirty="0"/>
          </a:p>
        </p:txBody>
      </p:sp>
      <p:sp>
        <p:nvSpPr>
          <p:cNvPr id="29" name="Text 23">
            <a:hlinkClick r:id="rId7" tooltip=""/>
          </p:cNvPr>
          <p:cNvSpPr txBox="1"/>
          <p:nvPr/>
        </p:nvSpPr>
        <p:spPr>
          <a:xfrm>
            <a:off x="2377440" y="5650992"/>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https://github.com/ipavanreddy/agri-ai-network</a:t>
            </a:r>
            <a:endParaRPr lang="en-US" sz="850" dirty="0"/>
          </a:p>
        </p:txBody>
      </p:sp>
      <p:sp>
        <p:nvSpPr>
          <p:cNvPr id="30" name="Text 24"/>
          <p:cNvSpPr txBox="1"/>
          <p:nvPr/>
        </p:nvSpPr>
        <p:spPr>
          <a:xfrm>
            <a:off x="6720840" y="1700784"/>
            <a:ext cx="4572000" cy="182880"/>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EVALUATION ALIGNMENT</a:t>
            </a:r>
            <a:endParaRPr lang="en-US" sz="850" dirty="0"/>
          </a:p>
        </p:txBody>
      </p:sp>
      <p:sp>
        <p:nvSpPr>
          <p:cNvPr id="31" name="Shape 25"/>
          <p:cNvSpPr/>
          <p:nvPr/>
        </p:nvSpPr>
        <p:spPr>
          <a:xfrm>
            <a:off x="6702552" y="2011680"/>
            <a:ext cx="4892040" cy="676656"/>
          </a:xfrm>
          <a:prstGeom prst="roundRect">
            <a:avLst>
              <a:gd name="adj" fmla="val 10811"/>
            </a:avLst>
          </a:prstGeom>
          <a:solidFill>
            <a:srgbClr val="DCEEE8"/>
          </a:solidFill>
          <a:ln w="9525">
            <a:solidFill>
              <a:srgbClr val="12796D"/>
            </a:solidFill>
            <a:prstDash val="solid"/>
          </a:ln>
        </p:spPr>
      </p:sp>
      <p:sp>
        <p:nvSpPr>
          <p:cNvPr id="32" name="Text 26"/>
          <p:cNvSpPr txBox="1"/>
          <p:nvPr/>
        </p:nvSpPr>
        <p:spPr>
          <a:xfrm>
            <a:off x="6839712" y="2121408"/>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25%</a:t>
            </a:r>
            <a:endParaRPr lang="en-US" sz="1700" dirty="0"/>
          </a:p>
        </p:txBody>
      </p:sp>
      <p:sp>
        <p:nvSpPr>
          <p:cNvPr id="33" name="Text 27"/>
          <p:cNvSpPr txBox="1"/>
          <p:nvPr/>
        </p:nvSpPr>
        <p:spPr>
          <a:xfrm>
            <a:off x="7680960" y="2103120"/>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AI / TECHNICAL EXECUTION</a:t>
            </a:r>
            <a:endParaRPr lang="en-US" sz="850" dirty="0"/>
          </a:p>
        </p:txBody>
      </p:sp>
      <p:sp>
        <p:nvSpPr>
          <p:cNvPr id="34" name="Text 28"/>
          <p:cNvSpPr txBox="1"/>
          <p:nvPr/>
        </p:nvSpPr>
        <p:spPr>
          <a:xfrm>
            <a:off x="7680960" y="2304288"/>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Gemini text + multimodal, schema-validated and versioned; Earth Engine, Speech, Translation</a:t>
            </a:r>
            <a:endParaRPr lang="en-US" sz="850" dirty="0"/>
          </a:p>
        </p:txBody>
      </p:sp>
      <p:sp>
        <p:nvSpPr>
          <p:cNvPr id="35" name="Shape 29"/>
          <p:cNvSpPr/>
          <p:nvPr/>
        </p:nvSpPr>
        <p:spPr>
          <a:xfrm>
            <a:off x="6702552" y="2816352"/>
            <a:ext cx="4892040" cy="676656"/>
          </a:xfrm>
          <a:prstGeom prst="roundRect">
            <a:avLst>
              <a:gd name="adj" fmla="val 10811"/>
            </a:avLst>
          </a:prstGeom>
          <a:solidFill>
            <a:srgbClr val="FFFDF7"/>
          </a:solidFill>
          <a:ln w="9525">
            <a:solidFill>
              <a:srgbClr val="DCD5C5"/>
            </a:solidFill>
            <a:prstDash val="solid"/>
          </a:ln>
        </p:spPr>
      </p:sp>
      <p:sp>
        <p:nvSpPr>
          <p:cNvPr id="36" name="Text 30"/>
          <p:cNvSpPr txBox="1"/>
          <p:nvPr/>
        </p:nvSpPr>
        <p:spPr>
          <a:xfrm>
            <a:off x="6839712" y="2926080"/>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37" name="Text 31"/>
          <p:cNvSpPr txBox="1"/>
          <p:nvPr/>
        </p:nvSpPr>
        <p:spPr>
          <a:xfrm>
            <a:off x="7680960" y="2907792"/>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PROBLEM-SOLUTION FIT</a:t>
            </a:r>
            <a:endParaRPr lang="en-US" sz="850" dirty="0"/>
          </a:p>
        </p:txBody>
      </p:sp>
      <p:sp>
        <p:nvSpPr>
          <p:cNvPr id="38" name="Text 32"/>
          <p:cNvSpPr txBox="1"/>
          <p:nvPr/>
        </p:nvSpPr>
        <p:spPr>
          <a:xfrm>
            <a:off x="7680960" y="3108960"/>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PRD §8 journey end to end: field data → advisory → photo check → action</a:t>
            </a:r>
            <a:endParaRPr lang="en-US" sz="850" dirty="0"/>
          </a:p>
        </p:txBody>
      </p:sp>
      <p:sp>
        <p:nvSpPr>
          <p:cNvPr id="39" name="Shape 33"/>
          <p:cNvSpPr/>
          <p:nvPr/>
        </p:nvSpPr>
        <p:spPr>
          <a:xfrm>
            <a:off x="6702552" y="3621024"/>
            <a:ext cx="4892040" cy="676656"/>
          </a:xfrm>
          <a:prstGeom prst="roundRect">
            <a:avLst>
              <a:gd name="adj" fmla="val 10811"/>
            </a:avLst>
          </a:prstGeom>
          <a:solidFill>
            <a:srgbClr val="FFFDF7"/>
          </a:solidFill>
          <a:ln w="9525">
            <a:solidFill>
              <a:srgbClr val="DCD5C5"/>
            </a:solidFill>
            <a:prstDash val="solid"/>
          </a:ln>
        </p:spPr>
      </p:sp>
      <p:sp>
        <p:nvSpPr>
          <p:cNvPr id="40" name="Text 34"/>
          <p:cNvSpPr txBox="1"/>
          <p:nvPr/>
        </p:nvSpPr>
        <p:spPr>
          <a:xfrm>
            <a:off x="6839712" y="3730752"/>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1" name="Text 35"/>
          <p:cNvSpPr txBox="1"/>
          <p:nvPr/>
        </p:nvSpPr>
        <p:spPr>
          <a:xfrm>
            <a:off x="7680960" y="3712464"/>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DEPTH &amp; REACH ACROSS INDIA</a:t>
            </a:r>
            <a:endParaRPr lang="en-US" sz="850" dirty="0"/>
          </a:p>
        </p:txBody>
      </p:sp>
      <p:sp>
        <p:nvSpPr>
          <p:cNvPr id="42" name="Text 36"/>
          <p:cNvSpPr txBox="1"/>
          <p:nvPr/>
        </p:nvSpPr>
        <p:spPr>
          <a:xfrm>
            <a:off x="7680960" y="3913632"/>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3 states via declarative adapters; English, Hindi, Telugu; voice in and out</a:t>
            </a:r>
            <a:endParaRPr lang="en-US" sz="850" dirty="0"/>
          </a:p>
        </p:txBody>
      </p:sp>
      <p:sp>
        <p:nvSpPr>
          <p:cNvPr id="43" name="Shape 37"/>
          <p:cNvSpPr/>
          <p:nvPr/>
        </p:nvSpPr>
        <p:spPr>
          <a:xfrm>
            <a:off x="6702552" y="4425696"/>
            <a:ext cx="4892040" cy="676656"/>
          </a:xfrm>
          <a:prstGeom prst="roundRect">
            <a:avLst>
              <a:gd name="adj" fmla="val 10811"/>
            </a:avLst>
          </a:prstGeom>
          <a:solidFill>
            <a:srgbClr val="FFFDF7"/>
          </a:solidFill>
          <a:ln w="9525">
            <a:solidFill>
              <a:srgbClr val="DCD5C5"/>
            </a:solidFill>
            <a:prstDash val="solid"/>
          </a:ln>
        </p:spPr>
      </p:sp>
      <p:sp>
        <p:nvSpPr>
          <p:cNvPr id="44" name="Text 38"/>
          <p:cNvSpPr txBox="1"/>
          <p:nvPr/>
        </p:nvSpPr>
        <p:spPr>
          <a:xfrm>
            <a:off x="6839712" y="4535424"/>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5" name="Text 39"/>
          <p:cNvSpPr txBox="1"/>
          <p:nvPr/>
        </p:nvSpPr>
        <p:spPr>
          <a:xfrm>
            <a:off x="7680960" y="4517136"/>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DEPLOYABILITY &amp; SCALABILITY</a:t>
            </a:r>
            <a:endParaRPr lang="en-US" sz="850" dirty="0"/>
          </a:p>
        </p:txBody>
      </p:sp>
      <p:sp>
        <p:nvSpPr>
          <p:cNvPr id="46" name="Text 40"/>
          <p:cNvSpPr txBox="1"/>
          <p:nvPr/>
        </p:nvSpPr>
        <p:spPr>
          <a:xfrm>
            <a:off x="7680960" y="4718304"/>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Three Cloud Run services, one deploy script, API-first canonical schema</a:t>
            </a:r>
            <a:endParaRPr lang="en-US" sz="850" dirty="0"/>
          </a:p>
        </p:txBody>
      </p:sp>
      <p:sp>
        <p:nvSpPr>
          <p:cNvPr id="47" name="Shape 41"/>
          <p:cNvSpPr/>
          <p:nvPr/>
        </p:nvSpPr>
        <p:spPr>
          <a:xfrm>
            <a:off x="6702552" y="5230368"/>
            <a:ext cx="4892040" cy="676656"/>
          </a:xfrm>
          <a:prstGeom prst="roundRect">
            <a:avLst>
              <a:gd name="adj" fmla="val 10811"/>
            </a:avLst>
          </a:prstGeom>
          <a:solidFill>
            <a:srgbClr val="FFFDF7"/>
          </a:solidFill>
          <a:ln w="9525">
            <a:solidFill>
              <a:srgbClr val="DCD5C5"/>
            </a:solidFill>
            <a:prstDash val="solid"/>
          </a:ln>
        </p:spPr>
      </p:sp>
      <p:sp>
        <p:nvSpPr>
          <p:cNvPr id="48" name="Text 42"/>
          <p:cNvSpPr txBox="1"/>
          <p:nvPr/>
        </p:nvSpPr>
        <p:spPr>
          <a:xfrm>
            <a:off x="6839712" y="5340096"/>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15%</a:t>
            </a:r>
            <a:endParaRPr lang="en-US" sz="1700" dirty="0"/>
          </a:p>
        </p:txBody>
      </p:sp>
      <p:sp>
        <p:nvSpPr>
          <p:cNvPr id="49" name="Text 43"/>
          <p:cNvSpPr txBox="1"/>
          <p:nvPr/>
        </p:nvSpPr>
        <p:spPr>
          <a:xfrm>
            <a:off x="7680960" y="5321808"/>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IMPACT POTENTIAL</a:t>
            </a:r>
            <a:endParaRPr lang="en-US" sz="850" dirty="0"/>
          </a:p>
        </p:txBody>
      </p:sp>
      <p:sp>
        <p:nvSpPr>
          <p:cNvPr id="50" name="Text 44"/>
          <p:cNvSpPr txBox="1"/>
          <p:nvPr/>
        </p:nvSpPr>
        <p:spPr>
          <a:xfrm>
            <a:off x="7680960" y="5522976"/>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~86% of holders are small or marginal [1]; view scales district → state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Evidence and public-system sources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Numbered references correspond to citations on the core slides.</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12</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[1]</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PIB: Livelihood of Farmers (2023)</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Ministry of Agriculture &amp; FW, 14 Mar 2023: per Agriculture Census 2015-16, small and marginal holders are about 86% of operational holders.</a:t>
            </a:r>
            <a:endParaRPr lang="en-US" sz="1000" dirty="0"/>
          </a:p>
        </p:txBody>
      </p:sp>
      <p:sp>
        <p:nvSpPr>
          <p:cNvPr id="18" name="Text 14">
            <a:hlinkClick r:id="rId2" tooltip=""/>
          </p:cNvPr>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[2]</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PIB: Digital Agriculture Mission (2024)</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Cabinet approval, 2 Sep 2024: ₹2,817 crore outlay; DPIs AgriStack, Krishi Decision Support System and Soil Profile Mapping.</a:t>
            </a:r>
            <a:endParaRPr lang="en-US" sz="1000" dirty="0"/>
          </a:p>
        </p:txBody>
      </p:sp>
      <p:sp>
        <p:nvSpPr>
          <p:cNvPr id="23" name="Text 19">
            <a:hlinkClick r:id="rId3"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[3]</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PIB: Gramin Krishi Mausam Sewa (2023)</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IMD with ICAR renders district / block-level agrometeorological advisory services to farmers.</a:t>
            </a:r>
            <a:endParaRPr lang="en-US" sz="1000" dirty="0"/>
          </a:p>
        </p:txBody>
      </p:sp>
      <p:sp>
        <p:nvSpPr>
          <p:cNvPr id="28" name="Text 24">
            <a:hlinkClick r:id="rId4" tooltip=""/>
          </p:cNvPr>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[4]</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PIB: Kisan Call Centre (2021)</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“Addressing Queries of Farmers in 22 languages”, 3 Aug 2021: replies in 22 official languages.</a:t>
            </a:r>
            <a:endParaRPr lang="en-US" sz="1000" dirty="0"/>
          </a:p>
        </p:txBody>
      </p:sp>
      <p:sp>
        <p:nvSpPr>
          <p:cNvPr id="33" name="Text 29">
            <a:hlinkClick r:id="rId5"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gri-ai-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Data, platform and project sources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Datasets and services the prototype uses; full list in THIRD_PARTY.md.</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AGRI AI NETWORK</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13</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[5]</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Soil Health Card portal</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Government of India scheme; N, P, K rating thresholds used in the Farm Health soil factor. Sample records follow its format.</a:t>
            </a:r>
            <a:endParaRPr lang="en-US" sz="1000" dirty="0"/>
          </a:p>
        </p:txBody>
      </p:sp>
      <p:sp>
        <p:nvSpPr>
          <p:cNvPr id="18" name="Text 14">
            <a:hlinkClick r:id="rId2" tooltip=""/>
          </p:cNvPr>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[6]</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Sentinel-2 SR Harmonized</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Copernicus Sentinel-2 surface reflectance on Google Earth Engine; field-mean NDVI / NDMI time series.</a:t>
            </a:r>
            <a:endParaRPr lang="en-US" sz="1000" dirty="0"/>
          </a:p>
        </p:txBody>
      </p:sp>
      <p:sp>
        <p:nvSpPr>
          <p:cNvPr id="23" name="Text 19">
            <a:hlinkClick r:id="rId3"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[7]</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Open-Meteo; ISRIC SoilGrids 2.0</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Live forecast, 14-day history and soil moisture (CC BY 4.0); modelled soil texture at 250 m (soilgrids.org, CC BY 4.0).</a:t>
            </a:r>
            <a:endParaRPr lang="en-US" sz="1000" dirty="0"/>
          </a:p>
        </p:txBody>
      </p:sp>
      <p:sp>
        <p:nvSpPr>
          <p:cNvPr id="28" name="Text 24">
            <a:hlinkClick r:id="rId4" tooltip=""/>
          </p:cNvPr>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[8]</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Agri AI Network PRD + repository</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docs/PRD.md (scenarios, Farm Health weights, evaluation weights), README and the source code behind every prototype number.</a:t>
            </a:r>
            <a:endParaRPr lang="en-US" sz="1000" dirty="0"/>
          </a:p>
        </p:txBody>
      </p:sp>
      <p:sp>
        <p:nvSpPr>
          <p:cNvPr id="33" name="Text 29">
            <a:hlinkClick r:id="rId5"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 repo ↗</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Spontom Enterprise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 AI Network: pitch deck</dc:title>
  <dc:subject>PptxGenJS Presentation</dc:subject>
  <dc:creator>Spontom Enterprise Private Limited</dc:creator>
  <cp:lastModifiedBy>Spontom Enterprise Private Limited</cp:lastModifiedBy>
  <cp:revision>1</cp:revision>
  <dcterms:created xsi:type="dcterms:W3CDTF">2026-09-30T18:05:01Z</dcterms:created>
  <dcterms:modified xsi:type="dcterms:W3CDTF">2026-09-30T18:05:01Z</dcterms:modified>
</cp:coreProperties>
</file>